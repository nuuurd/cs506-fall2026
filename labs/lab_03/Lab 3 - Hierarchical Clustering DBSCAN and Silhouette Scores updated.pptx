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8" r:id="rId3"/>
    <p:sldId id="259" r:id="rId4"/>
    <p:sldId id="260" r:id="rId5"/>
    <p:sldId id="261" r:id="rId6"/>
    <p:sldId id="263" r:id="rId7"/>
    <p:sldId id="350" r:id="rId8"/>
    <p:sldId id="369" r:id="rId9"/>
    <p:sldId id="352" r:id="rId10"/>
    <p:sldId id="354" r:id="rId11"/>
    <p:sldId id="368" r:id="rId12"/>
    <p:sldId id="355" r:id="rId13"/>
    <p:sldId id="356" r:id="rId14"/>
    <p:sldId id="367" r:id="rId15"/>
    <p:sldId id="357" r:id="rId16"/>
    <p:sldId id="370" r:id="rId17"/>
    <p:sldId id="358" r:id="rId18"/>
    <p:sldId id="359" r:id="rId19"/>
    <p:sldId id="268" r:id="rId20"/>
    <p:sldId id="269" r:id="rId21"/>
    <p:sldId id="270" r:id="rId22"/>
    <p:sldId id="271" r:id="rId23"/>
    <p:sldId id="360" r:id="rId24"/>
    <p:sldId id="277" r:id="rId25"/>
    <p:sldId id="371" r:id="rId26"/>
    <p:sldId id="372" r:id="rId27"/>
    <p:sldId id="373" r:id="rId28"/>
    <p:sldId id="280" r:id="rId29"/>
    <p:sldId id="281" r:id="rId30"/>
    <p:sldId id="282" r:id="rId31"/>
    <p:sldId id="283" r:id="rId32"/>
    <p:sldId id="365" r:id="rId33"/>
    <p:sldId id="364" r:id="rId34"/>
    <p:sldId id="363" r:id="rId35"/>
    <p:sldId id="362" r:id="rId36"/>
    <p:sldId id="361" r:id="rId37"/>
    <p:sldId id="284" r:id="rId38"/>
    <p:sldId id="285" r:id="rId39"/>
    <p:sldId id="286" r:id="rId40"/>
    <p:sldId id="288" r:id="rId41"/>
    <p:sldId id="290" r:id="rId42"/>
  </p:sldIdLst>
  <p:sldSz cx="9144000" cy="5143500" type="screen16x9"/>
  <p:notesSz cx="5143500" cy="9144000"/>
  <p:custDataLst>
    <p:tags r:id="rId4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85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00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658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x-axis: individual data points. y-axis: the distance at which two clusters were merged. The higher a merge happens, the less similar the two things being joined were.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this height the line crosses 3 branches -&gt; 3 clusters. Cut higher and fewer branches are crossed -&gt; fewer, coarser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908F2-7DC0-1FEE-4E94-457C28435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5CE262-5D1F-7357-9F26-FFB294116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2601A-753F-9ADF-5D67-E608A0666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FFA23-FFC2-D1F1-DDA8-9EECF87E31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773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50399-BF63-CAF7-41ED-C7DDDF2F0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2ED443-1CF2-B573-8197-517FC3531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118594-3BAF-B2DD-EA8E-E5D6BD757A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CDA67-753F-ACD2-B4DC-1C03A7A1BB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141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E3C62-53B7-545E-88C2-1D5F890F9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19C16-8DAC-4202-ECE4-FFFAAC771A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2C203-7B99-9F87-100F-3C8F4A1A2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A7C26-1E51-FD0C-2E80-61612F50F8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2481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A9467-6307-3DD6-1D52-410798838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540381-F85E-5339-A811-D03BBE582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82BACF-50B2-0205-84F9-DAED5B18C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3EBE8-D5AE-31D0-90BA-723268BCE2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3823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232B9-5767-C99F-ABB2-B3C26CE80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2FFA69-947B-BCF5-256D-7615FD57D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EDB28F-4DD5-63BF-1747-25F5070B9E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03CBC-609A-F976-7674-9B1C0F7369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266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bin represents a cluster; the y-axis groups points by cluster; the x-axis is that point's silhouette score, sorted within each band.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0068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7153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4.xml"/><Relationship Id="rId7" Type="http://schemas.openxmlformats.org/officeDocument/2006/relationships/image" Target="../media/image8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3.xml"/><Relationship Id="rId11" Type="http://schemas.openxmlformats.org/officeDocument/2006/relationships/image" Target="../media/image10.svg"/><Relationship Id="rId5" Type="http://schemas.openxmlformats.org/officeDocument/2006/relationships/tags" Target="../tags/tag6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5.xml"/><Relationship Id="rId9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7.png"/><Relationship Id="rId7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7.png"/><Relationship Id="rId7" Type="http://schemas.openxmlformats.org/officeDocument/2006/relationships/image" Target="../media/image4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9.xml"/><Relationship Id="rId7" Type="http://schemas.openxmlformats.org/officeDocument/2006/relationships/image" Target="../media/image8.sv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3.xml"/><Relationship Id="rId11" Type="http://schemas.openxmlformats.org/officeDocument/2006/relationships/image" Target="../media/image10.svg"/><Relationship Id="rId5" Type="http://schemas.openxmlformats.org/officeDocument/2006/relationships/tags" Target="../tags/tag11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10.xml"/><Relationship Id="rId9" Type="http://schemas.openxmlformats.org/officeDocument/2006/relationships/image" Target="../media/image9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7.png"/><Relationship Id="rId7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7.png"/><Relationship Id="rId7" Type="http://schemas.openxmlformats.org/officeDocument/2006/relationships/image" Target="../media/image11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14.xml"/><Relationship Id="rId7" Type="http://schemas.openxmlformats.org/officeDocument/2006/relationships/image" Target="../media/image8.sv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3.xml"/><Relationship Id="rId11" Type="http://schemas.openxmlformats.org/officeDocument/2006/relationships/image" Target="../media/image10.svg"/><Relationship Id="rId5" Type="http://schemas.openxmlformats.org/officeDocument/2006/relationships/tags" Target="../tags/tag16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15.xml"/><Relationship Id="rId9" Type="http://schemas.openxmlformats.org/officeDocument/2006/relationships/image" Target="../media/image9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19.xml"/><Relationship Id="rId7" Type="http://schemas.openxmlformats.org/officeDocument/2006/relationships/image" Target="../media/image8.sv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Layout" Target="../slideLayouts/slideLayout3.xml"/><Relationship Id="rId11" Type="http://schemas.openxmlformats.org/officeDocument/2006/relationships/image" Target="../media/image10.svg"/><Relationship Id="rId5" Type="http://schemas.openxmlformats.org/officeDocument/2006/relationships/tags" Target="../tags/tag21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20.xml"/><Relationship Id="rId9" Type="http://schemas.openxmlformats.org/officeDocument/2006/relationships/image" Target="../media/image9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24.xml"/><Relationship Id="rId7" Type="http://schemas.openxmlformats.org/officeDocument/2006/relationships/image" Target="../media/image8.sv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Layout" Target="../slideLayouts/slideLayout3.xml"/><Relationship Id="rId11" Type="http://schemas.openxmlformats.org/officeDocument/2006/relationships/image" Target="../media/image10.svg"/><Relationship Id="rId5" Type="http://schemas.openxmlformats.org/officeDocument/2006/relationships/tags" Target="../tags/tag26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25.xml"/><Relationship Id="rId9" Type="http://schemas.openxmlformats.org/officeDocument/2006/relationships/image" Target="../media/image9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024128"/>
            <a:ext cx="7132320" cy="914"/>
          </a:xfrm>
          <a:prstGeom prst="line">
            <a:avLst/>
          </a:prstGeom>
          <a:noFill/>
          <a:ln w="635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1161288"/>
            <a:ext cx="7132320" cy="914"/>
          </a:xfrm>
          <a:prstGeom prst="line">
            <a:avLst/>
          </a:prstGeom>
          <a:noFill/>
          <a:ln w="9525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5840" y="3968496"/>
            <a:ext cx="7132320" cy="914"/>
          </a:xfrm>
          <a:prstGeom prst="line">
            <a:avLst/>
          </a:prstGeom>
          <a:noFill/>
          <a:ln w="635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3859767"/>
            <a:ext cx="7132320" cy="914"/>
          </a:xfrm>
          <a:prstGeom prst="line">
            <a:avLst/>
          </a:prstGeom>
          <a:noFill/>
          <a:ln w="9525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72768" y="3163824"/>
            <a:ext cx="566928" cy="914"/>
          </a:xfrm>
          <a:prstGeom prst="line">
            <a:avLst/>
          </a:prstGeom>
          <a:noFill/>
          <a:ln w="63500">
            <a:solidFill>
              <a:srgbClr val="B3A7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04304" y="3163824"/>
            <a:ext cx="566928" cy="914"/>
          </a:xfrm>
          <a:prstGeom prst="line">
            <a:avLst/>
          </a:prstGeom>
          <a:noFill/>
          <a:ln w="63500">
            <a:solidFill>
              <a:srgbClr val="B3A7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1417320"/>
            <a:ext cx="7498080" cy="1417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 – Hierarchical Clustering,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 err="1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</a:t>
            </a:r>
            <a:r>
              <a:rPr lang="en-US" sz="32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Silhouette Scores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139696" y="2852928"/>
            <a:ext cx="48646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506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1783080"/>
            <a:ext cx="6400800" cy="914"/>
          </a:xfrm>
          <a:prstGeom prst="line">
            <a:avLst/>
          </a:prstGeom>
          <a:noFill/>
          <a:ln w="381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0" y="3246120"/>
            <a:ext cx="6400800" cy="914"/>
          </a:xfrm>
          <a:prstGeom prst="line">
            <a:avLst/>
          </a:prstGeom>
          <a:noFill/>
          <a:ln w="381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Clustering</a:t>
            </a:r>
            <a:endParaRPr lang="en-US" sz="3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84048"/>
            <a:ext cx="852220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Clustering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310896" y="1234440"/>
            <a:ext cx="852220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Top-down (divisive): the reverse process — start with all points in one cluster and repeatedly split it; less common in practice, and out of scope for the class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FontTx/>
              <a:buChar char="●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 (agglomerative): every point starts as its own cluster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Repeatedly merge the two closest clusters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when only one cluster remains — this builds a full tree of merges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need to choose k up front — we decide afterward, by cutting the tree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84048"/>
            <a:ext cx="8522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 Dendrogram</a:t>
            </a:r>
            <a:endParaRPr lang="en-US" sz="2400" dirty="0"/>
          </a:p>
        </p:txBody>
      </p:sp>
      <p:pic>
        <p:nvPicPr>
          <p:cNvPr id="3" name="Image 0" descr="/tmp/claude-0/-home-claude/25316540-4197-5184-806b-140a80c5d084/scratchpad/deck/assets/dendrogram_pl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234440"/>
            <a:ext cx="7132320" cy="32461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84048"/>
            <a:ext cx="8522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 the Dendrogram = Choosing k</a:t>
            </a:r>
            <a:endParaRPr lang="en-US" sz="2400" dirty="0"/>
          </a:p>
        </p:txBody>
      </p:sp>
      <p:pic>
        <p:nvPicPr>
          <p:cNvPr id="3" name="Image 0" descr="/tmp/claude-0/-home-claude/25316540-4197-5184-806b-140a80c5d084/scratchpad/deck/assets/dendrogram_cut_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234440"/>
            <a:ext cx="7132320" cy="3246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10896" y="4590288"/>
            <a:ext cx="85222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 horizontal line at any height — the number of vertical branches it crosses is your number of clusters.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84048"/>
            <a:ext cx="852220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Recall: Link Functions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310896" y="1234440"/>
            <a:ext cx="852220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define the distance between two clusters (not just two points)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Single-link: distance between the closest pair of points, one from each cluster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200"/>
              </a:spcAft>
              <a:buSzPct val="100000"/>
              <a:buNone/>
            </a:pPr>
            <a:endParaRPr lang="en-US" sz="132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Complete-link: distance between the farthest pair of points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200"/>
              </a:spcAft>
              <a:buSzPct val="100000"/>
              <a:buNone/>
            </a:pPr>
            <a:endParaRPr lang="en-US" sz="132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Average-link: the average distance over every cross-cluster pair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200"/>
              </a:spcAft>
              <a:buSzPct val="100000"/>
              <a:buNone/>
            </a:pPr>
            <a:endParaRPr lang="en-US" sz="240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Centroid distance: distance between the two clusters' centroids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200"/>
              </a:spcAft>
              <a:buSzPct val="100000"/>
              <a:buNone/>
            </a:pPr>
            <a:endParaRPr lang="en-US" sz="1439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Ward's distance: the increase in within-cluster variance caused by merging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200"/>
              </a:spcAft>
              <a:buSzPct val="100000"/>
              <a:buNone/>
            </a:pP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link_si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968418"/>
            <a:ext cx="4023360" cy="201168"/>
          </a:xfrm>
          <a:prstGeom prst="rect">
            <a:avLst/>
          </a:prstGeom>
        </p:spPr>
      </p:pic>
      <p:pic>
        <p:nvPicPr>
          <p:cNvPr id="6" name="Picture 5" descr="link_comple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2567696"/>
            <a:ext cx="4061677" cy="201168"/>
          </a:xfrm>
          <a:prstGeom prst="rect">
            <a:avLst/>
          </a:prstGeom>
        </p:spPr>
      </p:pic>
      <p:pic>
        <p:nvPicPr>
          <p:cNvPr id="7" name="Picture 6" descr="link_aver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3173557"/>
            <a:ext cx="3012707" cy="365760"/>
          </a:xfrm>
          <a:prstGeom prst="rect">
            <a:avLst/>
          </a:prstGeom>
        </p:spPr>
      </p:pic>
      <p:pic>
        <p:nvPicPr>
          <p:cNvPr id="8" name="Picture 7" descr="link_centro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3944741"/>
            <a:ext cx="1977716" cy="219456"/>
          </a:xfrm>
          <a:prstGeom prst="rect">
            <a:avLst/>
          </a:prstGeom>
        </p:spPr>
      </p:pic>
      <p:pic>
        <p:nvPicPr>
          <p:cNvPr id="9" name="Picture 8" descr="link_w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" y="4569622"/>
            <a:ext cx="3938657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56039-0C04-46B9-56FB-D64951EC1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384048"/>
            <a:ext cx="8522208" cy="676656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F6C00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D4321-484A-EAE9-A9CC-860F4FB12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0896" y="939800"/>
            <a:ext cx="8522208" cy="360000"/>
          </a:xfrm>
          <a:prstGeom prst="rect">
            <a:avLst/>
          </a:prstGeom>
          <a:noFill/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What would merge next under single-link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AA576F-34EA-B264-847F-DF0A22993528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solidFill>
              <a:srgbClr val="262626"/>
            </a:solidFill>
            <a:headEnd type="triangle"/>
            <a:tailEnd type="triangle"/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24C686-B3A6-6211-CB34-E44128178E1E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solidFill>
              <a:srgbClr val="262626"/>
            </a:solidFill>
            <a:headEnd type="triangle"/>
            <a:tailEnd type="triangle"/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1AF7D50-A9F3-CB3B-D069-063DFB783819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9F7F2A-04D9-9794-08FB-D5A3D231BF6F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9F7F2A-04D9-9794-08FB-D5A3D231B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4E745817-90B3-24C6-66CE-1CC8C5325FBB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050C63-7966-8003-F38F-17C6E34D88B0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050C63-7966-8003-F38F-17C6E34D8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C6933E06-5063-F213-A533-FAAAF3EBE7EB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2A33721-8BC8-84D6-6B9E-899BE5A99F7C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2A33721-8BC8-84D6-6B9E-899BE5A99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EF6AE134-80F8-B526-BE27-A3BF952D845E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rgbClr val="EF6C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EF6C00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CA3EB1E-B65B-AFAA-B38F-607F02136618}"/>
              </a:ext>
            </a:extLst>
          </p:cNvPr>
          <p:cNvSpPr/>
          <p:nvPr/>
        </p:nvSpPr>
        <p:spPr>
          <a:xfrm>
            <a:off x="2885317" y="3682538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E77ABA4-3690-44E0-CCA7-53F128743CD8}"/>
                  </a:ext>
                </a:extLst>
              </p:cNvPr>
              <p:cNvSpPr txBox="1"/>
              <p:nvPr/>
            </p:nvSpPr>
            <p:spPr>
              <a:xfrm>
                <a:off x="2518565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2,0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E77ABA4-3690-44E0-CCA7-53F128743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565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2004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092546-391C-F7ED-E8A5-54D05A2FE87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9107B8-9F44-A3C1-D7BC-96582E183C6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What would merge next under single-link distance?
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672131-FAFB-51BF-1B90-573E6F92861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700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1FDDE20-B3CA-7881-8182-34DE1C8D502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87293896-E369-CC40-DFCA-C8EC2B9CC910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06EF21B-1A28-6A34-2137-8CC6B34D764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73387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3" grpId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10ED1-B49E-0897-5380-BC00B5D6A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5935E-1FC7-C7A0-C996-5F1720E25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384048"/>
            <a:ext cx="8522208" cy="676656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F6C00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B98FF-DA13-6057-82F6-4FC1236C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0896" y="939800"/>
            <a:ext cx="8522208" cy="360000"/>
          </a:xfrm>
          <a:prstGeom prst="rect">
            <a:avLst/>
          </a:prstGeom>
          <a:noFill/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What would merge next under single-link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D42EA46-47F0-4957-BFA2-0D81E5BDA3CC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solidFill>
              <a:srgbClr val="262626"/>
            </a:solidFill>
            <a:headEnd type="triangle"/>
            <a:tailEnd type="triangle"/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A2B1326-F2BD-0B53-B2CD-D10194229FD8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solidFill>
              <a:srgbClr val="262626"/>
            </a:solidFill>
            <a:headEnd type="triangle"/>
            <a:tailEnd type="triangle"/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5471C29A-42A1-2508-DC4D-41903058C251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A0FEC7-D755-BB54-03FC-7CC2BB09ABE2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A0FEC7-D755-BB54-03FC-7CC2BB09A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4B434862-999B-7129-92E6-4CBC02D218C0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E6423E-D4DD-B56E-95BE-B19EBEAA544F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E6423E-D4DD-B56E-95BE-B19EBEAA5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C2818FE9-FE75-38AE-71B4-448E209E1102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979C9FE-BEE9-9A6D-7956-F974A1FF82C8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979C9FE-BEE9-9A6D-7956-F974A1FF8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731140A0-DFF3-82D3-AD42-EA1198D70B25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rgbClr val="EF6C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EF6C00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E4C7B81-F456-BCAD-84DC-35342068733A}"/>
              </a:ext>
            </a:extLst>
          </p:cNvPr>
          <p:cNvSpPr/>
          <p:nvPr/>
        </p:nvSpPr>
        <p:spPr>
          <a:xfrm>
            <a:off x="2885317" y="3682538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AAAD20-3632-BE58-E10D-E4570DABA8FA}"/>
                  </a:ext>
                </a:extLst>
              </p:cNvPr>
              <p:cNvSpPr txBox="1"/>
              <p:nvPr/>
            </p:nvSpPr>
            <p:spPr>
              <a:xfrm>
                <a:off x="2518565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2,0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AAAD20-3632-BE58-E10D-E4570DABA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565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A708035-A535-823E-12AB-63BBCC502A1B}"/>
              </a:ext>
            </a:extLst>
          </p:cNvPr>
          <p:cNvCxnSpPr>
            <a:cxnSpLocks/>
            <a:stCxn id="10" idx="7"/>
            <a:endCxn id="16" idx="1"/>
          </p:cNvCxnSpPr>
          <p:nvPr/>
        </p:nvCxnSpPr>
        <p:spPr>
          <a:xfrm flipV="1">
            <a:off x="1143936" y="1991588"/>
            <a:ext cx="582332" cy="1707992"/>
          </a:xfrm>
          <a:prstGeom prst="line">
            <a:avLst/>
          </a:prstGeom>
          <a:ln>
            <a:solidFill>
              <a:srgbClr val="695D46"/>
            </a:solidFill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01B091-56CC-E6EB-3224-E7282F0DF161}"/>
              </a:ext>
            </a:extLst>
          </p:cNvPr>
          <p:cNvCxnSpPr>
            <a:cxnSpLocks/>
            <a:stCxn id="10" idx="7"/>
          </p:cNvCxnSpPr>
          <p:nvPr/>
        </p:nvCxnSpPr>
        <p:spPr>
          <a:xfrm flipV="1">
            <a:off x="1143936" y="2652292"/>
            <a:ext cx="1263233" cy="1047288"/>
          </a:xfrm>
          <a:prstGeom prst="line">
            <a:avLst/>
          </a:prstGeom>
          <a:ln>
            <a:solidFill>
              <a:srgbClr val="695D46"/>
            </a:solidFill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9DB2F6-7ADC-1E26-3426-A0B1E743D85A}"/>
                  </a:ext>
                </a:extLst>
              </p:cNvPr>
              <p:cNvSpPr txBox="1"/>
              <p:nvPr/>
            </p:nvSpPr>
            <p:spPr>
              <a:xfrm>
                <a:off x="768981" y="2567045"/>
                <a:ext cx="847898" cy="333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9DB2F6-7ADC-1E26-3426-A0B1E743D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981" y="2567045"/>
                <a:ext cx="847898" cy="333168"/>
              </a:xfrm>
              <a:prstGeom prst="rect">
                <a:avLst/>
              </a:prstGeom>
              <a:blipFill>
                <a:blip r:embed="rId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C92588-F124-96E7-CA2D-261B509B24A5}"/>
                  </a:ext>
                </a:extLst>
              </p:cNvPr>
              <p:cNvSpPr txBox="1"/>
              <p:nvPr/>
            </p:nvSpPr>
            <p:spPr>
              <a:xfrm>
                <a:off x="1590823" y="3018260"/>
                <a:ext cx="847898" cy="333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C92588-F124-96E7-CA2D-261B509B2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823" y="3018260"/>
                <a:ext cx="847898" cy="3331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3F3ADF-8507-DF8C-30E2-83B43D253F86}"/>
                  </a:ext>
                </a:extLst>
              </p:cNvPr>
              <p:cNvSpPr txBox="1"/>
              <p:nvPr/>
            </p:nvSpPr>
            <p:spPr>
              <a:xfrm>
                <a:off x="3433313" y="1936168"/>
                <a:ext cx="5710687" cy="9562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  <a:p>
                <a:pPr algn="ctr"/>
                <a:endParaRPr lang="en-US" b="0" dirty="0">
                  <a:solidFill>
                    <a:srgbClr val="EF6C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algn="ctr"/>
                <a:endParaRPr lang="en-US" b="0" i="1" dirty="0">
                  <a:solidFill>
                    <a:srgbClr val="EF6C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3F3ADF-8507-DF8C-30E2-83B43D253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313" y="1936168"/>
                <a:ext cx="5710687" cy="9562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1995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D8A3A-1246-E6C3-B2A2-30E9F1694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D4D89-647E-AAB8-C853-315A1BA7B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384048"/>
            <a:ext cx="8522208" cy="676656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F6C00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F9FED-5EDD-F154-82F5-AE1387F5D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0896" y="939800"/>
            <a:ext cx="8522208" cy="360000"/>
          </a:xfrm>
          <a:prstGeom prst="rect">
            <a:avLst/>
          </a:prstGeom>
          <a:noFill/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What would merge next under single-link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E1B38D-09CD-0155-5193-AF648C8A1A2C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solidFill>
              <a:srgbClr val="262626"/>
            </a:solidFill>
            <a:headEnd type="triangle"/>
            <a:tailEnd type="triangle"/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E0D3FB0-9017-876C-8AE3-0249C0BA433D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solidFill>
              <a:srgbClr val="262626"/>
            </a:solidFill>
            <a:headEnd type="triangle"/>
            <a:tailEnd type="triangle"/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5970CFD-746D-6D39-CD0E-1ED77354813B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3AE0C6-2A75-F120-28F4-B9E79C6C39CA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3AE0C6-2A75-F120-28F4-B9E79C6C3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396DAE75-4971-7763-261A-DAAD32274FD3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4D6DCB-09BD-6366-D2BC-24176753FB1E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4D6DCB-09BD-6366-D2BC-24176753F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66EE5B5A-1F9A-78E7-1E9E-744E0D44013C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3D946EF-4A85-9CB1-F743-7CEC2206EBF3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3D946EF-4A85-9CB1-F743-7CEC2206E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441039C0-DCA3-3CD2-C0E9-C3FE41EFF8CA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rgbClr val="EF6C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EF6C00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2CEE5BA-01F8-6242-47CF-A8833988682E}"/>
              </a:ext>
            </a:extLst>
          </p:cNvPr>
          <p:cNvSpPr/>
          <p:nvPr/>
        </p:nvSpPr>
        <p:spPr>
          <a:xfrm>
            <a:off x="2885317" y="3682538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7359252-A880-500A-54D4-3C7679813C30}"/>
                  </a:ext>
                </a:extLst>
              </p:cNvPr>
              <p:cNvSpPr txBox="1"/>
              <p:nvPr/>
            </p:nvSpPr>
            <p:spPr>
              <a:xfrm>
                <a:off x="2518565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2,0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7359252-A880-500A-54D4-3C7679813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565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1D814E-2E1D-F080-6245-C39F92D796C7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2454446" y="2671345"/>
            <a:ext cx="430871" cy="1030521"/>
          </a:xfrm>
          <a:prstGeom prst="line">
            <a:avLst/>
          </a:prstGeom>
          <a:ln>
            <a:solidFill>
              <a:srgbClr val="695D46"/>
            </a:solidFill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55DD810-3C0B-0F4C-192F-B50683C8D7D8}"/>
                  </a:ext>
                </a:extLst>
              </p:cNvPr>
              <p:cNvSpPr txBox="1"/>
              <p:nvPr/>
            </p:nvSpPr>
            <p:spPr>
              <a:xfrm>
                <a:off x="2462580" y="3027069"/>
                <a:ext cx="847898" cy="548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  <a:p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55DD810-3C0B-0F4C-192F-B50683C8D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580" y="3027069"/>
                <a:ext cx="847898" cy="5486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3651609-1285-6B8D-C045-9DED2CAB16AE}"/>
                  </a:ext>
                </a:extLst>
              </p:cNvPr>
              <p:cNvSpPr txBox="1"/>
              <p:nvPr/>
            </p:nvSpPr>
            <p:spPr>
              <a:xfrm>
                <a:off x="1035551" y="2295866"/>
                <a:ext cx="847898" cy="548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  <a:p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3651609-1285-6B8D-C045-9DED2CAB1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551" y="2295866"/>
                <a:ext cx="847898" cy="54861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D0ED2FA-5C3C-92DE-CA14-CB3FA280D620}"/>
              </a:ext>
            </a:extLst>
          </p:cNvPr>
          <p:cNvCxnSpPr>
            <a:cxnSpLocks/>
            <a:stCxn id="16" idx="1"/>
          </p:cNvCxnSpPr>
          <p:nvPr/>
        </p:nvCxnSpPr>
        <p:spPr>
          <a:xfrm>
            <a:off x="1726268" y="1991588"/>
            <a:ext cx="1165619" cy="1758239"/>
          </a:xfrm>
          <a:prstGeom prst="line">
            <a:avLst/>
          </a:prstGeom>
          <a:ln>
            <a:solidFill>
              <a:srgbClr val="695D46"/>
            </a:solidFill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469AD2-1AD2-8014-5F5C-D732EEA18030}"/>
                  </a:ext>
                </a:extLst>
              </p:cNvPr>
              <p:cNvSpPr txBox="1"/>
              <p:nvPr/>
            </p:nvSpPr>
            <p:spPr>
              <a:xfrm>
                <a:off x="3433313" y="1936168"/>
                <a:ext cx="5710687" cy="12718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  <a:p>
                <a:pPr algn="ctr"/>
                <a:endParaRPr lang="en-US" b="0" dirty="0">
                  <a:solidFill>
                    <a:srgbClr val="EF6C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algn="ctr"/>
                <a:endParaRPr lang="en-US" b="0" i="1" dirty="0">
                  <a:solidFill>
                    <a:srgbClr val="EF6C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A469AD2-1AD2-8014-5F5C-D732EEA18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313" y="1936168"/>
                <a:ext cx="5710687" cy="127182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8962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19DE5-83D3-60DD-360D-744F4FF36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E3E99-9474-0C85-16EB-64EF7B110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384048"/>
            <a:ext cx="8522208" cy="676656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F6C00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A26B6-8B34-4A71-C9EB-43F65F2D2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0896" y="939800"/>
            <a:ext cx="8522208" cy="360000"/>
          </a:xfrm>
          <a:prstGeom prst="rect">
            <a:avLst/>
          </a:prstGeom>
          <a:noFill/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What would merge next under single-link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50B8A05-415B-66EA-F920-3661D06AB740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solidFill>
              <a:srgbClr val="262626"/>
            </a:solidFill>
            <a:headEnd type="triangle"/>
            <a:tailEnd type="triangle"/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4277604-CEBA-AD04-7E4B-3330052A2A2E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solidFill>
              <a:srgbClr val="262626"/>
            </a:solidFill>
            <a:headEnd type="triangle"/>
            <a:tailEnd type="triangle"/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A9A72CC1-D99F-C973-5B50-FF0B8F783AB8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1D026E-0070-FBBB-FA5B-92CB43FE6D3C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3AE0C6-2A75-F120-28F4-B9E79C6C3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514AC4C2-7E16-0929-6ECD-D2F8F300BB13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D7AB65-FB70-0485-0628-77BF68BDE29F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4D6DCB-09BD-6366-D2BC-24176753F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B42403CC-34AD-75DC-768C-23F9D6E699DA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8B5C7E6-67F1-72AE-EE5B-B5540F93B007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3D946EF-4A85-9CB1-F743-7CEC2206E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18DC6988-B017-B869-D187-1DA60A5DC204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rgbClr val="EF6C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EF6C00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0CC29FA-E346-21AA-649F-DBA157BA4331}"/>
              </a:ext>
            </a:extLst>
          </p:cNvPr>
          <p:cNvSpPr/>
          <p:nvPr/>
        </p:nvSpPr>
        <p:spPr>
          <a:xfrm>
            <a:off x="2885317" y="3682538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665A62C-3869-19ED-8DE9-782483D0A40F}"/>
                  </a:ext>
                </a:extLst>
              </p:cNvPr>
              <p:cNvSpPr txBox="1"/>
              <p:nvPr/>
            </p:nvSpPr>
            <p:spPr>
              <a:xfrm>
                <a:off x="2518565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2,0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7359252-A880-500A-54D4-3C7679813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565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139491-D642-98B2-1CF3-627BDB004922}"/>
                  </a:ext>
                </a:extLst>
              </p:cNvPr>
              <p:cNvSpPr txBox="1"/>
              <p:nvPr/>
            </p:nvSpPr>
            <p:spPr>
              <a:xfrm>
                <a:off x="3433313" y="1936168"/>
                <a:ext cx="5710687" cy="1548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i="1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  <a:p>
                <a:pPr algn="ctr"/>
                <a:endParaRPr lang="en-US" b="0" dirty="0">
                  <a:solidFill>
                    <a:srgbClr val="EF6C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algn="ctr"/>
                <a:endParaRPr lang="en-US" b="0" i="1" dirty="0">
                  <a:solidFill>
                    <a:srgbClr val="EF6C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139491-D642-98B2-1CF3-627BDB004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313" y="1936168"/>
                <a:ext cx="5710687" cy="15488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9967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52F9F-B2E5-3558-C7F3-D699CB585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FFEA7-1998-9E16-4018-87048200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384048"/>
            <a:ext cx="8522208" cy="676656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F6C00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9AEF6-0498-2FA1-87FC-B786F7167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0896" y="939800"/>
            <a:ext cx="8522208" cy="360000"/>
          </a:xfrm>
          <a:prstGeom prst="rect">
            <a:avLst/>
          </a:prstGeom>
          <a:noFill/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What would merge next under single-link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797122-C679-180E-CB91-EBEAC9D6F4C2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solidFill>
              <a:srgbClr val="262626"/>
            </a:solidFill>
            <a:headEnd type="triangle"/>
            <a:tailEnd type="triangle"/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EB3589D-972A-E806-18DA-0502EA6A777A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solidFill>
              <a:srgbClr val="262626"/>
            </a:solidFill>
            <a:headEnd type="triangle"/>
            <a:tailEnd type="triangle"/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5528EA7-65B4-F5F6-A345-2A4466EC9E7D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345259-5650-C5AA-2D58-83FA313AD2C2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345259-5650-C5AA-2D58-83FA313AD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355201CB-48D4-0A16-E091-FD7DD5D07381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63B1FC-E1FF-B698-AE69-CE36B5F88D0E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63B1FC-E1FF-B698-AE69-CE36B5F88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2266E7EA-3E84-12A0-0AD2-A7E41967E05A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445CFB-FDE1-00E2-DD4D-A6C7B8FFFC1D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445CFB-FDE1-00E2-DD4D-A6C7B8FFF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6E3B72BE-AC0F-976A-5F36-90C827135392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rgbClr val="EF6C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EF6C00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D324181-C7F9-1E9F-6453-DF1B6730F13E}"/>
              </a:ext>
            </a:extLst>
          </p:cNvPr>
          <p:cNvSpPr/>
          <p:nvPr/>
        </p:nvSpPr>
        <p:spPr>
          <a:xfrm>
            <a:off x="2885317" y="3682538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1752B8-B78A-C1C2-A3E0-5634614E7CBE}"/>
                  </a:ext>
                </a:extLst>
              </p:cNvPr>
              <p:cNvSpPr txBox="1"/>
              <p:nvPr/>
            </p:nvSpPr>
            <p:spPr>
              <a:xfrm>
                <a:off x="2518565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2,0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1752B8-B78A-C1C2-A3E0-5634614E7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565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918961-5FA4-7B99-49B7-883D108BA1C7}"/>
                  </a:ext>
                </a:extLst>
              </p:cNvPr>
              <p:cNvSpPr txBox="1"/>
              <p:nvPr/>
            </p:nvSpPr>
            <p:spPr>
              <a:xfrm>
                <a:off x="3433313" y="1936168"/>
                <a:ext cx="5710687" cy="21319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i="1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  <a:p>
                <a:pPr algn="ctr"/>
                <a:r>
                  <a:rPr lang="en-US" b="0" i="1" dirty="0" err="1">
                    <a:solidFill>
                      <a:srgbClr val="EF6C0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next_merge</a:t>
                </a:r>
                <a:r>
                  <a:rPr lang="en-US" b="0" dirty="0">
                    <a:solidFill>
                      <a:srgbClr val="EF6C0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0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min</m:t>
                        </m:r>
                      </m:fName>
                      <m:e>
                        <m:r>
                          <m:rPr>
                            <m:lit/>
                          </m:rP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{</m:t>
                        </m:r>
                      </m:e>
                    </m:func>
                    <m:sSub>
                      <m:sSubPr>
                        <m:ctrlP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𝑆𝐿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𝐶</m:t>
                        </m:r>
                        <m: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𝐴𝐵</m:t>
                        </m:r>
                      </m:e>
                    </m:d>
                    <m:r>
                      <a:rPr lang="en-US" b="0" i="1" smtClean="0">
                        <a:solidFill>
                          <a:srgbClr val="EF6C0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𝑆𝐿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  <m: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𝐴𝐵</m:t>
                        </m:r>
                      </m:e>
                    </m:d>
                    <m:r>
                      <a:rPr lang="en-US" b="0" i="1" smtClean="0">
                        <a:solidFill>
                          <a:srgbClr val="EF6C0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</a:rPr>
                          <m:t>𝑆𝐿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m:rPr>
                        <m:lit/>
                      </m:rPr>
                      <a:rPr lang="en-US" b="0" i="1" smtClean="0">
                        <a:solidFill>
                          <a:srgbClr val="EF6C0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}</m:t>
                    </m:r>
                    <m:r>
                      <a:rPr lang="en-US" b="0" i="1" smtClean="0">
                        <a:solidFill>
                          <a:srgbClr val="EF6C0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5</m:t>
                        </m:r>
                      </m:e>
                    </m:rad>
                    <m:r>
                      <a:rPr lang="en-US" b="0" i="1" smtClean="0">
                        <a:solidFill>
                          <a:srgbClr val="EF6C0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→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𝐵</m:t>
                        </m:r>
                      </m:e>
                    </m:d>
                    <m:r>
                      <a:rPr lang="en-US" b="0" i="0" smtClean="0">
                        <a:solidFill>
                          <a:srgbClr val="EF6C0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EF6C0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and</m:t>
                    </m:r>
                    <m:r>
                      <a:rPr lang="en-US" b="0" i="0" smtClean="0">
                        <a:solidFill>
                          <a:srgbClr val="EF6C0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{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EF6C0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D</m:t>
                    </m:r>
                    <m:r>
                      <a:rPr lang="en-US" b="0" i="0" smtClean="0">
                        <a:solidFill>
                          <a:srgbClr val="EF6C0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} </m:t>
                    </m:r>
                  </m:oMath>
                </a14:m>
                <a:endParaRPr lang="en-US" b="0" dirty="0">
                  <a:solidFill>
                    <a:srgbClr val="EF6C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algn="ctr"/>
                <a:endParaRPr lang="en-US" b="0" dirty="0">
                  <a:solidFill>
                    <a:srgbClr val="EF6C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algn="ctr"/>
                <a:endParaRPr lang="en-US" b="0" i="1" dirty="0">
                  <a:solidFill>
                    <a:srgbClr val="EF6C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918961-5FA4-7B99-49B7-883D108BA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313" y="1936168"/>
                <a:ext cx="5710687" cy="2131994"/>
              </a:xfrm>
              <a:prstGeom prst="rect">
                <a:avLst/>
              </a:prstGeom>
              <a:blipFill>
                <a:blip r:embed="rId6"/>
                <a:stretch>
                  <a:fillRect l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8724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6E2DE-9947-5840-56CF-FCCCF9F7D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1D3B3-E611-1A4B-60AC-53089D588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384048"/>
            <a:ext cx="8522208" cy="676656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F6C00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0A6E0-7F92-99EE-7BBF-8B90CAB28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0896" y="939800"/>
            <a:ext cx="8522208" cy="360000"/>
          </a:xfrm>
          <a:prstGeom prst="rect">
            <a:avLst/>
          </a:prstGeom>
          <a:noFill/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What would merge next under complete-link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F1DB46F-14F0-F853-A4DA-2A9F876FC57A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solidFill>
              <a:srgbClr val="262626"/>
            </a:solidFill>
            <a:headEnd type="triangle"/>
            <a:tailEnd type="triangle"/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7E5A56-FA0D-86CF-8213-BD5B96175534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solidFill>
              <a:srgbClr val="262626"/>
            </a:solidFill>
            <a:headEnd type="triangle"/>
            <a:tailEnd type="triangle"/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03286A0-CF17-65DB-6D83-6A4F06891E7F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1152B8-068E-AA1A-AB0F-830F15027CDC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1152B8-068E-AA1A-AB0F-830F15027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BCE4A0FA-C9B7-6B30-D906-C7F1D8C77E36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E073CF-1DE2-302A-7E98-34FE34942DA2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E073CF-1DE2-302A-7E98-34FE34942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E67B4443-2FBA-FA99-94BF-64DDFD0EE376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49382E-3986-F2C2-F64F-A444E1018562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49382E-3986-F2C2-F64F-A444E1018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28D2A778-BA8D-FB68-6E3C-7DE343EAA6C3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rgbClr val="EF6C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EF6C00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08A4070-E867-650C-0BEA-4F3CBD60CAFE}"/>
              </a:ext>
            </a:extLst>
          </p:cNvPr>
          <p:cNvSpPr/>
          <p:nvPr/>
        </p:nvSpPr>
        <p:spPr>
          <a:xfrm>
            <a:off x="2885317" y="3682538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C2A6139-63FE-BC08-F78B-2A84CADEBCA9}"/>
                  </a:ext>
                </a:extLst>
              </p:cNvPr>
              <p:cNvSpPr txBox="1"/>
              <p:nvPr/>
            </p:nvSpPr>
            <p:spPr>
              <a:xfrm>
                <a:off x="2518565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2,0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C2A6139-63FE-BC08-F78B-2A84CADEB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565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0049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6EF6C-98F3-A302-BBDC-6D00469B3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B5C58C-5AEE-6D55-19EB-708C9B390B8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3FB28E-1222-C916-C066-3AD6065CA50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What would merge next under complete-link distance?
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E0D2CD-8E4A-4CFA-326C-4D4EF17DD2E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700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7448925-5FC2-82AF-9D29-E1B915B3282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00FA8FE0-C3A0-2BEB-19AE-FE5DCD634489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2B5018C-5779-2CC5-AAA0-587C2E148A5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28797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3" grpId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5C14-95DD-A4F7-9BA1-1C0D1407D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6BB34-2150-034D-56ED-AF27C4F0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384048"/>
            <a:ext cx="8522208" cy="676656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F6C00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5740F-44A1-F398-86F9-43FED3103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0896" y="939800"/>
            <a:ext cx="8522208" cy="360000"/>
          </a:xfrm>
          <a:prstGeom prst="rect">
            <a:avLst/>
          </a:prstGeom>
          <a:noFill/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What would merge next under complete-link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0696DFE-ADB8-D57D-5336-AD768AAC0D6D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solidFill>
              <a:srgbClr val="262626"/>
            </a:solidFill>
            <a:headEnd type="triangle"/>
            <a:tailEnd type="triangle"/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3443334-A10D-C069-3DA4-29BDA95A89CD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solidFill>
              <a:srgbClr val="262626"/>
            </a:solidFill>
            <a:headEnd type="triangle"/>
            <a:tailEnd type="triangle"/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A7294479-9A61-A0C0-63F4-AA7CE7CF3C71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41B9EB-D7F4-515E-AEA4-F79441A27C93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41B9EB-D7F4-515E-AEA4-F79441A27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569F4533-DF3D-2923-761D-4D9676B2041D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7A7F29F-CB4D-D449-172E-8058D49CEF3B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7A7F29F-CB4D-D449-172E-8058D49CE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970FBB6A-43FE-5FC9-741B-5FD7FBD6648A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30470D3-DB7B-B966-01B7-366B718ED7B3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30470D3-DB7B-B966-01B7-366B718ED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54263931-C1C3-AB27-4FAC-1098F9627B9E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rgbClr val="EF6C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EF6C00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1C09B93-1DF4-B3CF-76D3-70D6516272D6}"/>
              </a:ext>
            </a:extLst>
          </p:cNvPr>
          <p:cNvSpPr/>
          <p:nvPr/>
        </p:nvSpPr>
        <p:spPr>
          <a:xfrm>
            <a:off x="2885317" y="3682538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933473B-C40B-19A6-5F1B-EEDB3F0EFF71}"/>
                  </a:ext>
                </a:extLst>
              </p:cNvPr>
              <p:cNvSpPr txBox="1"/>
              <p:nvPr/>
            </p:nvSpPr>
            <p:spPr>
              <a:xfrm>
                <a:off x="2518565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2,0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933473B-C40B-19A6-5F1B-EEDB3F0EF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565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21A6FF-6032-40C1-6D1E-602EB669FE53}"/>
              </a:ext>
            </a:extLst>
          </p:cNvPr>
          <p:cNvCxnSpPr>
            <a:cxnSpLocks/>
            <a:stCxn id="10" idx="7"/>
            <a:endCxn id="16" idx="1"/>
          </p:cNvCxnSpPr>
          <p:nvPr/>
        </p:nvCxnSpPr>
        <p:spPr>
          <a:xfrm flipV="1">
            <a:off x="1143936" y="1991588"/>
            <a:ext cx="582332" cy="1707992"/>
          </a:xfrm>
          <a:prstGeom prst="line">
            <a:avLst/>
          </a:prstGeom>
          <a:ln>
            <a:solidFill>
              <a:srgbClr val="695D46"/>
            </a:solidFill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3148FF-D4E2-78B3-E7D7-2783339988DE}"/>
              </a:ext>
            </a:extLst>
          </p:cNvPr>
          <p:cNvCxnSpPr>
            <a:cxnSpLocks/>
            <a:stCxn id="10" idx="7"/>
          </p:cNvCxnSpPr>
          <p:nvPr/>
        </p:nvCxnSpPr>
        <p:spPr>
          <a:xfrm flipV="1">
            <a:off x="1143936" y="2652292"/>
            <a:ext cx="1263233" cy="1047288"/>
          </a:xfrm>
          <a:prstGeom prst="line">
            <a:avLst/>
          </a:prstGeom>
          <a:ln>
            <a:solidFill>
              <a:srgbClr val="695D46"/>
            </a:solidFill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3A91C8B-0C30-2ACE-FC38-9521E3F8E3D3}"/>
                  </a:ext>
                </a:extLst>
              </p:cNvPr>
              <p:cNvSpPr txBox="1"/>
              <p:nvPr/>
            </p:nvSpPr>
            <p:spPr>
              <a:xfrm>
                <a:off x="792033" y="2559361"/>
                <a:ext cx="847898" cy="333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3A91C8B-0C30-2ACE-FC38-9521E3F8E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033" y="2559361"/>
                <a:ext cx="847898" cy="333168"/>
              </a:xfrm>
              <a:prstGeom prst="rect">
                <a:avLst/>
              </a:prstGeom>
              <a:blipFill>
                <a:blip r:embed="rId6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F0E8FF-F728-A2FD-6A3A-70709A5607A1}"/>
                  </a:ext>
                </a:extLst>
              </p:cNvPr>
              <p:cNvSpPr txBox="1"/>
              <p:nvPr/>
            </p:nvSpPr>
            <p:spPr>
              <a:xfrm>
                <a:off x="1590823" y="3018260"/>
                <a:ext cx="847898" cy="333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F0E8FF-F728-A2FD-6A3A-70709A560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823" y="3018260"/>
                <a:ext cx="847898" cy="3331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0D2A73-0254-DDFD-ABCE-97F166323FE7}"/>
                  </a:ext>
                </a:extLst>
              </p:cNvPr>
              <p:cNvSpPr txBox="1"/>
              <p:nvPr/>
            </p:nvSpPr>
            <p:spPr>
              <a:xfrm>
                <a:off x="3442490" y="1813399"/>
                <a:ext cx="5593443" cy="402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0D2A73-0254-DDFD-ABCE-97F166323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490" y="1813399"/>
                <a:ext cx="5593443" cy="402290"/>
              </a:xfrm>
              <a:prstGeom prst="rect">
                <a:avLst/>
              </a:prstGeom>
              <a:blipFill>
                <a:blip r:embed="rId8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062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B3178-7BCD-A4FC-8F30-523CF0DC3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F7C8C-EAC3-973C-1DA4-EE05A319D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384048"/>
            <a:ext cx="8522208" cy="676656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F6C00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2CED6-2161-3DC1-F840-77ACA9E0D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0896" y="939800"/>
            <a:ext cx="8522208" cy="360000"/>
          </a:xfrm>
          <a:prstGeom prst="rect">
            <a:avLst/>
          </a:prstGeom>
          <a:noFill/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What would merge next under complete-link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65AA35A-A369-B02D-D8E2-B85F9CA08E2E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solidFill>
              <a:srgbClr val="262626"/>
            </a:solidFill>
            <a:headEnd type="triangle"/>
            <a:tailEnd type="triangle"/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704DE7-446A-9970-0995-5080F77D7698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solidFill>
              <a:srgbClr val="262626"/>
            </a:solidFill>
            <a:headEnd type="triangle"/>
            <a:tailEnd type="triangle"/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72ADB89F-198B-6B40-7E62-C644C1A12087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8BB5F20-B3B4-7BA4-4963-E7D6EC6EBAAD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0148D9-FBC2-3F7D-6765-D78C92402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A6831C27-8C92-0050-C7C3-A508DF96ACD0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ADE34D8-1165-B08B-1A1B-4D25F9A9DCF1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95D491-4994-5E20-5482-6F0750D15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67D321CA-A585-173C-96CA-CCDFB6263792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31A5423-B3F5-3800-D1ED-15DE9243797E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8FF2D4-ED99-39FA-5178-7D7303B95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F4B6BF8B-CEF6-A5B0-603D-589DB8BB2F74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rgbClr val="EF6C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EF6C00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424A682-35B6-ECA0-D997-6F51B71248CC}"/>
              </a:ext>
            </a:extLst>
          </p:cNvPr>
          <p:cNvSpPr/>
          <p:nvPr/>
        </p:nvSpPr>
        <p:spPr>
          <a:xfrm>
            <a:off x="2885317" y="3682538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D86A5D-2E00-87F4-BAAF-438770DFCA20}"/>
                  </a:ext>
                </a:extLst>
              </p:cNvPr>
              <p:cNvSpPr txBox="1"/>
              <p:nvPr/>
            </p:nvSpPr>
            <p:spPr>
              <a:xfrm>
                <a:off x="2518565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2,0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E4A9C8-D4A1-0C2D-5B55-6BE0CEC43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565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0CEA8A-8C2A-910A-EFE7-E0C228C0E7BD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2454446" y="2671345"/>
            <a:ext cx="430871" cy="1030521"/>
          </a:xfrm>
          <a:prstGeom prst="line">
            <a:avLst/>
          </a:prstGeom>
          <a:ln>
            <a:solidFill>
              <a:srgbClr val="695D46"/>
            </a:solidFill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03ECD8-8CC2-027E-397B-4A1D8AA49154}"/>
                  </a:ext>
                </a:extLst>
              </p:cNvPr>
              <p:cNvSpPr txBox="1"/>
              <p:nvPr/>
            </p:nvSpPr>
            <p:spPr>
              <a:xfrm>
                <a:off x="2462580" y="3027069"/>
                <a:ext cx="847898" cy="548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  <a:p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9E84A7C-6AB1-5FCB-3268-1476062BC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580" y="3027069"/>
                <a:ext cx="847898" cy="5486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33EE95D-2322-AC94-0649-084AC2DD9B0B}"/>
                  </a:ext>
                </a:extLst>
              </p:cNvPr>
              <p:cNvSpPr txBox="1"/>
              <p:nvPr/>
            </p:nvSpPr>
            <p:spPr>
              <a:xfrm>
                <a:off x="1131431" y="2274921"/>
                <a:ext cx="847898" cy="548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  <a:p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E962775-387E-C5BA-1E4A-3F72B2409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431" y="2274921"/>
                <a:ext cx="847898" cy="5486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F7362DD-1DEA-B6A0-0640-5D42033F71E8}"/>
              </a:ext>
            </a:extLst>
          </p:cNvPr>
          <p:cNvCxnSpPr>
            <a:cxnSpLocks/>
            <a:stCxn id="16" idx="1"/>
          </p:cNvCxnSpPr>
          <p:nvPr/>
        </p:nvCxnSpPr>
        <p:spPr>
          <a:xfrm>
            <a:off x="1726268" y="1991588"/>
            <a:ext cx="1165619" cy="1758239"/>
          </a:xfrm>
          <a:prstGeom prst="line">
            <a:avLst/>
          </a:prstGeom>
          <a:ln>
            <a:solidFill>
              <a:srgbClr val="695D46"/>
            </a:solidFill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9CE633-7988-70C8-28A0-E74348280EE7}"/>
                  </a:ext>
                </a:extLst>
              </p:cNvPr>
              <p:cNvSpPr txBox="1"/>
              <p:nvPr/>
            </p:nvSpPr>
            <p:spPr>
              <a:xfrm>
                <a:off x="3442490" y="1813399"/>
                <a:ext cx="5593443" cy="717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9CE633-7988-70C8-28A0-E74348280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490" y="1813399"/>
                <a:ext cx="5593443" cy="717825"/>
              </a:xfrm>
              <a:prstGeom prst="rect">
                <a:avLst/>
              </a:prstGeom>
              <a:blipFill>
                <a:blip r:embed="rId8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7571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4AE29-9D01-C20A-076B-159777E95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7284D-A9B7-4A8D-434A-B00692BA8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384048"/>
            <a:ext cx="8522208" cy="676656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F6C00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AA781-20F4-74BC-DC00-0AB2BB44F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0896" y="939800"/>
            <a:ext cx="8522208" cy="360000"/>
          </a:xfrm>
          <a:prstGeom prst="rect">
            <a:avLst/>
          </a:prstGeom>
          <a:noFill/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What would merge next under complete-link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7C748F8-AD39-D0DE-AABD-A09A321CFC4E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solidFill>
              <a:srgbClr val="262626"/>
            </a:solidFill>
            <a:headEnd type="triangle"/>
            <a:tailEnd type="triangle"/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E2A98D-DA8D-2AEF-9438-465BA670B5D3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solidFill>
              <a:srgbClr val="262626"/>
            </a:solidFill>
            <a:headEnd type="triangle"/>
            <a:tailEnd type="triangle"/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BC10A0BE-B578-7BE5-28AF-C3AE7AF93DCE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0148D9-FBC2-3F7D-6765-D78C9240294B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0148D9-FBC2-3F7D-6765-D78C92402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0552759B-10B6-485D-B0DB-20F69CF88CEA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95D491-4994-5E20-5482-6F0750D15D7C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95D491-4994-5E20-5482-6F0750D15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F50F3634-34B2-A4F7-5626-601D75798FDE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8FF2D4-ED99-39FA-5178-7D7303B9543B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8FF2D4-ED99-39FA-5178-7D7303B95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5241CABE-B9D9-617F-BF24-9C8D43C36E72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rgbClr val="EF6C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EF6C00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18AA012-652B-0055-433C-66F1B4800402}"/>
              </a:ext>
            </a:extLst>
          </p:cNvPr>
          <p:cNvSpPr/>
          <p:nvPr/>
        </p:nvSpPr>
        <p:spPr>
          <a:xfrm>
            <a:off x="2885317" y="3682538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E4A9C8-D4A1-0C2D-5B55-6BE0CEC43319}"/>
                  </a:ext>
                </a:extLst>
              </p:cNvPr>
              <p:cNvSpPr txBox="1"/>
              <p:nvPr/>
            </p:nvSpPr>
            <p:spPr>
              <a:xfrm>
                <a:off x="2518565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2,0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E4A9C8-D4A1-0C2D-5B55-6BE0CEC43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565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A35557-EFC5-2B63-674D-B360293F5341}"/>
                  </a:ext>
                </a:extLst>
              </p:cNvPr>
              <p:cNvSpPr txBox="1"/>
              <p:nvPr/>
            </p:nvSpPr>
            <p:spPr>
              <a:xfrm>
                <a:off x="3442490" y="1813399"/>
                <a:ext cx="5593443" cy="994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i="1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A35557-EFC5-2B63-674D-B360293F5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490" y="1813399"/>
                <a:ext cx="5593443" cy="99482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0826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3230F-6FBC-0264-9043-EB5159B89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62233-8F9B-43EF-D2B1-26D411BC7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384048"/>
            <a:ext cx="8522208" cy="676656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F6C00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A55A4-53EA-0108-8F41-669D070D1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0896" y="939800"/>
            <a:ext cx="8522208" cy="360000"/>
          </a:xfrm>
          <a:prstGeom prst="rect">
            <a:avLst/>
          </a:prstGeom>
          <a:noFill/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62626"/>
                </a:solidFill>
                <a:latin typeface="Arial"/>
                <a:ea typeface="Arial"/>
                <a:cs typeface="Arial"/>
              </a:rPr>
              <a:t>What would merge next under complete-link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B7A2490-34EC-8D35-ED1C-4DE8D4A6CD32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solidFill>
              <a:srgbClr val="262626"/>
            </a:solidFill>
            <a:headEnd type="triangle"/>
            <a:tailEnd type="triangle"/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760C71-A960-FA52-94BE-C09C9AE1CDE2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solidFill>
              <a:srgbClr val="262626"/>
            </a:solidFill>
            <a:headEnd type="triangle"/>
            <a:tailEnd type="triangle"/>
          </a:ln>
        </p:spPr>
        <p:style>
          <a:lnRef idx="1">
            <a:srgbClr val="695D46"/>
          </a:lnRef>
          <a:fillRef idx="0">
            <a:srgbClr val="695D46"/>
          </a:fillRef>
          <a:effectRef idx="0">
            <a:srgbClr val="695D46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FBAAE15C-2B6C-3CC0-5859-E93EFD487A65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6B4BFC-FB75-78AC-1C5C-3B8D9D12BE14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6B4BFC-FB75-78AC-1C5C-3B8D9D12B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B6778A45-4FB3-B3ED-3EAE-9A5E8D3993EC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FDE01E-1D8E-EB14-6442-8108E9248E99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FDE01E-1D8E-EB14-6442-8108E9248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5A87F787-41DF-F49A-C862-2E7B5095FD21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B00A96F-67D0-E335-2FAF-1E91416B76C1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B00A96F-67D0-E335-2FAF-1E91416B7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88E63677-1901-F53B-822A-14F24C45E312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rgbClr val="EF6C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EF6C00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F3B719F-3E47-4186-DB80-CD62248EC7DC}"/>
              </a:ext>
            </a:extLst>
          </p:cNvPr>
          <p:cNvSpPr/>
          <p:nvPr/>
        </p:nvSpPr>
        <p:spPr>
          <a:xfrm>
            <a:off x="2885317" y="3682538"/>
            <a:ext cx="108064" cy="116377"/>
          </a:xfrm>
          <a:prstGeom prst="ellipse">
            <a:avLst/>
          </a:prstGeom>
          <a:solidFill>
            <a:srgbClr val="EF6C00"/>
          </a:solidFill>
        </p:spPr>
        <p:style>
          <a:lnRef idx="2">
            <a:schemeClr val="accent1">
              <a:shade val="15000"/>
            </a:schemeClr>
          </a:lnRef>
          <a:fillRef idx="1">
            <a:srgbClr val="695D46"/>
          </a:fillRef>
          <a:effectRef idx="0">
            <a:srgbClr val="695D4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B3C9AA-0BFC-6B89-59D4-1F4F298C2D26}"/>
                  </a:ext>
                </a:extLst>
              </p:cNvPr>
              <p:cNvSpPr txBox="1"/>
              <p:nvPr/>
            </p:nvSpPr>
            <p:spPr>
              <a:xfrm>
                <a:off x="2518565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2,0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B3C9AA-0BFC-6B89-59D4-1F4F298C2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565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7308481-6086-58A6-6881-9381F87019D1}"/>
                  </a:ext>
                </a:extLst>
              </p:cNvPr>
              <p:cNvSpPr txBox="1"/>
              <p:nvPr/>
            </p:nvSpPr>
            <p:spPr>
              <a:xfrm>
                <a:off x="3442490" y="1813399"/>
                <a:ext cx="5593443" cy="18969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rgbClr val="EF6C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i="1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b="0" dirty="0">
                  <a:solidFill>
                    <a:srgbClr val="EF6C00"/>
                  </a:solidFill>
                </a:endParaRPr>
              </a:p>
              <a:p>
                <a:r>
                  <a:rPr lang="en-US" i="1" dirty="0" err="1">
                    <a:solidFill>
                      <a:srgbClr val="EF6C0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next_merge</a:t>
                </a:r>
                <a:r>
                  <a:rPr lang="en-US" dirty="0">
                    <a:solidFill>
                      <a:srgbClr val="EF6C0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0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min</m:t>
                        </m:r>
                      </m:fName>
                      <m:e>
                        <m:r>
                          <m:rPr>
                            <m:lit/>
                          </m:rP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{</m:t>
                        </m:r>
                      </m:e>
                    </m:func>
                    <m:sSub>
                      <m:sSubPr>
                        <m:ctrlP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𝐶</m:t>
                        </m:r>
                        <m: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𝐴𝐵</m:t>
                        </m:r>
                      </m:e>
                    </m:d>
                    <m:r>
                      <a:rPr lang="en-US" b="0" i="1" smtClean="0">
                        <a:solidFill>
                          <a:srgbClr val="EF6C0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  <m: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𝐴𝐵</m:t>
                        </m:r>
                      </m:e>
                    </m:d>
                    <m:r>
                      <a:rPr lang="en-US" b="0" i="1" smtClean="0">
                        <a:solidFill>
                          <a:srgbClr val="EF6C0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EF6C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m:rPr>
                        <m:lit/>
                      </m:rPr>
                      <a:rPr lang="en-US" b="0" i="1" smtClean="0">
                        <a:solidFill>
                          <a:srgbClr val="EF6C0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}</m:t>
                    </m:r>
                    <m:r>
                      <a:rPr lang="en-US" b="0" i="1" smtClean="0">
                        <a:solidFill>
                          <a:srgbClr val="EF6C0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=</m:t>
                    </m:r>
                  </m:oMath>
                </a14:m>
                <a:endParaRPr lang="en-US" b="0" i="1" dirty="0">
                  <a:solidFill>
                    <a:srgbClr val="EF6C00"/>
                  </a:solidFill>
                  <a:latin typeface="Cambria Math" panose="02040503050406030204" pitchFamily="18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3</m:t>
                      </m:r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→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EF6C00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𝑎𝑛𝑑</m:t>
                      </m:r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{</m:t>
                      </m:r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𝐷</m:t>
                      </m:r>
                      <m:r>
                        <a:rPr lang="en-US" b="0" i="1" smtClean="0">
                          <a:solidFill>
                            <a:srgbClr val="EF6C0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}</m:t>
                      </m:r>
                    </m:oMath>
                  </m:oMathPara>
                </a14:m>
                <a:endParaRPr lang="en-US" b="0" dirty="0">
                  <a:solidFill>
                    <a:srgbClr val="EF6C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endParaRPr lang="en-US" i="1" dirty="0">
                  <a:solidFill>
                    <a:srgbClr val="EF6C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7308481-6086-58A6-6881-9381F8701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2490" y="1813399"/>
                <a:ext cx="5593443" cy="1896994"/>
              </a:xfrm>
              <a:prstGeom prst="rect">
                <a:avLst/>
              </a:prstGeom>
              <a:blipFill>
                <a:blip r:embed="rId6"/>
                <a:stretch>
                  <a:fillRect l="-11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3903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84048"/>
            <a:ext cx="852220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Clustering: Pros &amp; Cons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310896" y="1234440"/>
            <a:ext cx="852220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500" dirty="0"/>
          </a:p>
          <a:p>
            <a:pPr marL="685800" lvl="1" indent="-342900">
              <a:lnSpc>
                <a:spcPct val="108000"/>
              </a:lnSpc>
              <a:spcAft>
                <a:spcPts val="800"/>
              </a:spcAft>
              <a:buSzPct val="100000"/>
              <a:buChar char="◦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need to pick k in advance</a:t>
            </a:r>
            <a:endParaRPr lang="en-US" sz="1500" dirty="0"/>
          </a:p>
          <a:p>
            <a:pPr marL="685800" lvl="1" indent="-342900">
              <a:lnSpc>
                <a:spcPct val="108000"/>
              </a:lnSpc>
              <a:spcAft>
                <a:spcPts val="800"/>
              </a:spcAft>
              <a:buSzPct val="100000"/>
              <a:buChar char="◦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dendrogram shows cluster structure at every scale at once</a:t>
            </a:r>
            <a:endParaRPr lang="en-US" sz="1500" dirty="0"/>
          </a:p>
          <a:p>
            <a:pPr marL="685800" lvl="1" indent="-342900">
              <a:lnSpc>
                <a:spcPct val="108000"/>
              </a:lnSpc>
              <a:spcAft>
                <a:spcPts val="800"/>
              </a:spcAft>
              <a:buSzPct val="100000"/>
              <a:buChar char="◦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any distance metric you can define</a:t>
            </a:r>
            <a:endParaRPr lang="en-US" sz="1500" dirty="0"/>
          </a:p>
          <a:p>
            <a:pPr marL="0" indent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1500" dirty="0"/>
          </a:p>
          <a:p>
            <a:pPr marL="685800" lvl="1" indent="-342900">
              <a:lnSpc>
                <a:spcPct val="108000"/>
              </a:lnSpc>
              <a:spcAft>
                <a:spcPts val="800"/>
              </a:spcAft>
              <a:buSzPct val="100000"/>
              <a:buChar char="◦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 — typically O(n²) time/space, doesn't scale to huge datasets</a:t>
            </a:r>
            <a:endParaRPr lang="en-US" sz="1500" dirty="0"/>
          </a:p>
          <a:p>
            <a:pPr marL="685800" lvl="1" indent="-342900">
              <a:lnSpc>
                <a:spcPct val="108000"/>
              </a:lnSpc>
              <a:spcAft>
                <a:spcPts val="800"/>
              </a:spcAft>
              <a:buSzPct val="100000"/>
              <a:buChar char="◦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Merges are permanent — an early bad merge can't be undone</a:t>
            </a:r>
            <a:endParaRPr lang="en-US" sz="1500" dirty="0"/>
          </a:p>
          <a:p>
            <a:pPr marL="685800" lvl="1" indent="-342900">
              <a:lnSpc>
                <a:spcPct val="108000"/>
              </a:lnSpc>
              <a:spcAft>
                <a:spcPts val="800"/>
              </a:spcAft>
              <a:buSzPct val="100000"/>
              <a:buChar char="◦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to noise and outliers (especially single-link)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5153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1783080"/>
            <a:ext cx="6400800" cy="914"/>
          </a:xfrm>
          <a:prstGeom prst="line">
            <a:avLst/>
          </a:prstGeom>
          <a:noFill/>
          <a:ln w="381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0" y="3246120"/>
            <a:ext cx="6400800" cy="914"/>
          </a:xfrm>
          <a:prstGeom prst="line">
            <a:avLst/>
          </a:prstGeom>
          <a:noFill/>
          <a:ln w="381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</a:t>
            </a:r>
            <a:endParaRPr lang="en-US" sz="3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84048"/>
            <a:ext cx="852220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Density-Based Clustering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310896" y="1234440"/>
            <a:ext cx="852220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Idea: clusters are dense regions of points, separated by sparser regions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parameters you choose:</a:t>
            </a:r>
            <a:endParaRPr lang="en-US" sz="1600" dirty="0"/>
          </a:p>
          <a:p>
            <a:pPr marL="685800" lvl="1" indent="-342900">
              <a:lnSpc>
                <a:spcPct val="108000"/>
              </a:lnSpc>
              <a:spcAft>
                <a:spcPts val="1200"/>
              </a:spcAft>
              <a:buSzPct val="100000"/>
              <a:buChar char="◦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 (epsilon) — the radius of a point's neighborhood</a:t>
            </a:r>
            <a:endParaRPr lang="en-US" sz="1600" dirty="0"/>
          </a:p>
          <a:p>
            <a:pPr marL="685800" lvl="1" indent="-342900">
              <a:lnSpc>
                <a:spcPct val="108000"/>
              </a:lnSpc>
              <a:spcAft>
                <a:spcPts val="1200"/>
              </a:spcAft>
              <a:buSzPct val="100000"/>
              <a:buChar char="◦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min_pts — the minimum number of neighbors to count as “dense”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need to specify the number of clusters ahead of time!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84048"/>
            <a:ext cx="852220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 of Points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310896" y="1234440"/>
            <a:ext cx="852220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point: has ≥ min_pts points within its ε-neighborhood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 point: not core itself, but falls inside a core point's ε-neighborhood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point: neither core nor border — it doesn't get assigned to any cluster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896" y="384048"/>
            <a:ext cx="85222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EF6C00"/>
                </a:solidFill>
                <a:latin typeface="Arial"/>
              </a:rPr>
              <a:t>DBSCAN Visualized —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939800"/>
            <a:ext cx="8522208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62626"/>
                </a:solidFill>
                <a:latin typeface="Arial"/>
              </a:rPr>
              <a:t>Watch every point get an ε-neighborhood check — border points get promoted to core, others stay noise.</a:t>
            </a:r>
          </a:p>
        </p:txBody>
      </p:sp>
      <p:pic>
        <p:nvPicPr>
          <p:cNvPr id="4" name="Picture 3" descr="dbscan_moon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72" y="1371600"/>
            <a:ext cx="5547255" cy="36118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4DB6AC"/>
          </a:solidFill>
          <a:ln>
            <a:solidFill>
              <a:srgbClr val="4DB6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84048"/>
            <a:ext cx="852220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 and Cons of </a:t>
            </a:r>
            <a:r>
              <a:rPr lang="en-US" sz="2500" b="1" dirty="0" err="1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-127094" y="1271016"/>
            <a:ext cx="852220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>
              <a:lnSpc>
                <a:spcPct val="108000"/>
              </a:lnSpc>
              <a:spcAft>
                <a:spcPts val="1200"/>
              </a:spcAft>
              <a:buSzPct val="100000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Pros:</a:t>
            </a:r>
          </a:p>
          <a:p>
            <a:pPr marL="800100" lvl="1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clusters of arbitrary shape — not just round blobs like K-means</a:t>
            </a:r>
            <a:endParaRPr lang="en-US" sz="1600" dirty="0"/>
          </a:p>
          <a:p>
            <a:pPr marL="800100" lvl="1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to noise and outliers — they're explicitly labeled as noise, not forced into a cluster</a:t>
            </a:r>
            <a:endParaRPr lang="en-US" sz="1600" dirty="0"/>
          </a:p>
          <a:p>
            <a:pPr marL="800100" lvl="1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Doesn't require specifying the number of clusters ahead of time</a:t>
            </a:r>
          </a:p>
          <a:p>
            <a:pPr lvl="1">
              <a:lnSpc>
                <a:spcPct val="108000"/>
              </a:lnSpc>
              <a:spcAft>
                <a:spcPts val="1200"/>
              </a:spcAft>
              <a:buSzPct val="100000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cs typeface="Arial" pitchFamily="34" charset="-120"/>
              </a:rPr>
              <a:t>Cons:</a:t>
            </a:r>
          </a:p>
          <a:p>
            <a:pPr marL="800100" lvl="1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need to choose </a:t>
            </a:r>
            <a:r>
              <a:rPr lang="en-US" sz="1600" dirty="0" err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</a:t>
            </a: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600" dirty="0" err="1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min_pts</a:t>
            </a: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results are sensitive to both</a:t>
            </a:r>
            <a:endParaRPr lang="en-US" sz="1600" dirty="0"/>
          </a:p>
          <a:p>
            <a:pPr marL="800100" lvl="1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Struggles when clusters have very different densities</a:t>
            </a:r>
            <a:endParaRPr lang="en-US" sz="1600" dirty="0"/>
          </a:p>
          <a:p>
            <a:pPr lvl="1">
              <a:lnSpc>
                <a:spcPct val="108000"/>
              </a:lnSpc>
              <a:spcAft>
                <a:spcPts val="1200"/>
              </a:spcAft>
              <a:buSzPct val="100000"/>
            </a:pPr>
            <a:endParaRPr lang="en-US" sz="1600" dirty="0">
              <a:solidFill>
                <a:srgbClr val="262626"/>
              </a:solidFill>
              <a:latin typeface="Arial" pitchFamily="34" charset="0"/>
              <a:cs typeface="Arial" pitchFamily="34" charset="-120"/>
            </a:endParaRPr>
          </a:p>
          <a:p>
            <a:pPr lvl="1">
              <a:lnSpc>
                <a:spcPct val="108000"/>
              </a:lnSpc>
              <a:spcAft>
                <a:spcPts val="1200"/>
              </a:spcAft>
              <a:buSzPct val="100000"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2AC74C-F57A-9DDE-F2EE-C047EBE1F7B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E166EE-1527-BD34-25FE-99C806CAF40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b="1">
                <a:solidFill>
                  <a:srgbClr val="000000"/>
                </a:solidFill>
              </a:rPr>
              <a:t>min_pts = 5. Point p has 3 points in its </a:t>
            </a:r>
            <a:r>
              <a:rPr lang="el-GR" sz="2500" b="1">
                <a:solidFill>
                  <a:srgbClr val="000000"/>
                </a:solidFill>
              </a:rPr>
              <a:t>ε-</a:t>
            </a:r>
            <a:r>
              <a:rPr lang="en-US" sz="2500" b="1">
                <a:solidFill>
                  <a:srgbClr val="000000"/>
                </a:solidFill>
              </a:rPr>
              <a:t>neighborhood, and one of those 3 is itself a core point. What is p?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F427BD-FCB3-A616-C123-F107313152F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700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8579ED8-07CD-7023-2D66-FC7F38B5E0F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5D082CC3-1CC5-7D81-BD7B-AA38A891D9A6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BDF24B4-6417-7D46-2B07-05B7B925335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0269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3" grpId="2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E1B9F1-B318-3C81-8D45-BC952B6679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0B8E94-B44A-5F0C-A16F-5661C456E86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Which type of point can end up assigned to a different cluster depending on the order DBSCAN happens to visit points in?
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F1BB8B-A605-2186-DD18-E6757CB934A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700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E74DB4A-B356-6FF4-1829-2EBD4B8AC12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BD9A86A2-F9D9-EA83-ED2C-F8C82C134809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5FCAB78-346B-D916-0042-7FA0389E0FD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8762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C7EAB9-AD90-B639-E8AA-D97F12EFB4F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0BC05D-B72A-AF0B-F2EC-4503639606A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You keep min_pts fixed and increase </a:t>
            </a:r>
            <a:r>
              <a:rPr lang="el-GR" sz="4000" b="1">
                <a:solidFill>
                  <a:srgbClr val="000000"/>
                </a:solidFill>
              </a:rPr>
              <a:t>ε. </a:t>
            </a:r>
            <a:r>
              <a:rPr lang="en-US" sz="4000" b="1">
                <a:solidFill>
                  <a:srgbClr val="000000"/>
                </a:solidFill>
              </a:rPr>
              <a:t>What's the most likely effect?
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7A8F97-68AF-09AF-1F86-E196274DE80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700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77F3682-47F3-5AEA-D215-2566B7E6AF7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3CD5D5C1-984B-6D1D-CB75-823FC5AE4C2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320D42F-FAF9-9334-6FEC-063DC598A00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3567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3" grpId="2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1783080"/>
            <a:ext cx="6400800" cy="914"/>
          </a:xfrm>
          <a:prstGeom prst="line">
            <a:avLst/>
          </a:prstGeom>
          <a:noFill/>
          <a:ln w="381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0" y="3246120"/>
            <a:ext cx="6400800" cy="914"/>
          </a:xfrm>
          <a:prstGeom prst="line">
            <a:avLst/>
          </a:prstGeom>
          <a:noFill/>
          <a:ln w="381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 Scores</a:t>
            </a:r>
            <a:endParaRPr lang="en-US" sz="3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84048"/>
            <a:ext cx="852220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Recall: How Do We Choose k?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310896" y="1234440"/>
            <a:ext cx="852220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over different k's and look for the point of diminishing returns in cost (“elbow method”)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empirical or domain-specific knowledge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metric that scores the quality of a clustering output</a:t>
            </a:r>
            <a:endParaRPr lang="en-US" sz="1600" dirty="0"/>
          </a:p>
          <a:p>
            <a:pPr marL="800100" lvl="1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 scores!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84048"/>
            <a:ext cx="852220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310896" y="1234440"/>
            <a:ext cx="852220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data point i:</a:t>
            </a:r>
            <a:endParaRPr lang="en-US" sz="1600" dirty="0"/>
          </a:p>
          <a:p>
            <a:pPr marL="685800" lvl="1" indent="-342900">
              <a:lnSpc>
                <a:spcPct val="108000"/>
              </a:lnSpc>
              <a:spcAft>
                <a:spcPts val="1200"/>
              </a:spcAft>
              <a:buSzPct val="100000"/>
              <a:buChar char="◦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aᵢ = mean distance from i to every other point in its own cluster</a:t>
            </a:r>
            <a:endParaRPr lang="en-US" sz="1600" dirty="0"/>
          </a:p>
          <a:p>
            <a:pPr marL="685800" lvl="1" indent="-342900">
              <a:lnSpc>
                <a:spcPct val="108000"/>
              </a:lnSpc>
              <a:spcAft>
                <a:spcPts val="1200"/>
              </a:spcAft>
              <a:buSzPct val="100000"/>
              <a:buChar char="◦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bᵢ = smallest mean distance from i to the points of any other cluster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Intuitively: aᵢ measures how well i fits where it is; bᵢ measures how well it would fit its best alternative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84048"/>
            <a:ext cx="852220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Together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310896" y="1234440"/>
            <a:ext cx="852220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endParaRPr lang="en-US" sz="17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us how well point i fits its own cluster compared to its next-best alternative</a:t>
            </a:r>
            <a:endParaRPr lang="en-US" sz="1700" dirty="0"/>
          </a:p>
          <a:p>
            <a:pPr marL="342900" indent="-3429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sᵢ over every point to get one score for the whole clustering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sil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1298448"/>
            <a:ext cx="1402556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045E8-F920-96D3-0F03-E666E98DE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5A5C090-9A16-7C1A-B7BE-0ABE0D9B4C53}"/>
              </a:ext>
            </a:extLst>
          </p:cNvPr>
          <p:cNvSpPr txBox="1"/>
          <p:nvPr/>
        </p:nvSpPr>
        <p:spPr>
          <a:xfrm>
            <a:off x="310896" y="384048"/>
            <a:ext cx="852220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Interpreting the Silhouette Score</a:t>
            </a:r>
            <a:endParaRPr lang="en-US" sz="2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6F8D95-EA60-F372-2399-B0E6CFDB214E}"/>
              </a:ext>
            </a:extLst>
          </p:cNvPr>
          <p:cNvSpPr/>
          <p:nvPr/>
        </p:nvSpPr>
        <p:spPr>
          <a:xfrm>
            <a:off x="310896" y="1234440"/>
            <a:ext cx="852220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does sᵢ → 1?</a:t>
            </a:r>
            <a:endParaRPr lang="en-US" sz="1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953DADC-7AD1-BC2C-E65A-BFAAF888F2E0}"/>
              </a:ext>
            </a:extLst>
          </p:cNvPr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538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901DF-BA48-A263-E27B-20CE2BF44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4DAC4D9-7154-2A2B-AFA3-82618DC24519}"/>
              </a:ext>
            </a:extLst>
          </p:cNvPr>
          <p:cNvSpPr txBox="1"/>
          <p:nvPr/>
        </p:nvSpPr>
        <p:spPr>
          <a:xfrm>
            <a:off x="310896" y="384048"/>
            <a:ext cx="852220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Interpreting the Silhouette Score</a:t>
            </a:r>
            <a:endParaRPr lang="en-US" sz="2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D562FD-95D9-3856-3BA0-2DDA45C99A82}"/>
              </a:ext>
            </a:extLst>
          </p:cNvPr>
          <p:cNvSpPr/>
          <p:nvPr/>
        </p:nvSpPr>
        <p:spPr>
          <a:xfrm>
            <a:off x="310896" y="1234440"/>
            <a:ext cx="852220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does sᵢ → 1?</a:t>
            </a:r>
            <a:endParaRPr lang="en-US" sz="1500" dirty="0"/>
          </a:p>
          <a:p>
            <a:pPr marL="685800" lvl="1" indent="-342900">
              <a:lnSpc>
                <a:spcPct val="108000"/>
              </a:lnSpc>
              <a:spcAft>
                <a:spcPts val="1000"/>
              </a:spcAft>
              <a:buSzPct val="100000"/>
              <a:buChar char="◦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aᵢ ≪ bᵢ: i is much closer to its own cluster than to any other → a great fit</a:t>
            </a:r>
            <a:endParaRPr lang="en-US" sz="1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748F6ED-E44E-F6F7-B9C1-9841163127DA}"/>
              </a:ext>
            </a:extLst>
          </p:cNvPr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8554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77E0B-D09E-2036-2D5C-BE4A554A8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C75E8BE-6CBE-9D22-15A8-1C18F5EC87E8}"/>
              </a:ext>
            </a:extLst>
          </p:cNvPr>
          <p:cNvSpPr txBox="1"/>
          <p:nvPr/>
        </p:nvSpPr>
        <p:spPr>
          <a:xfrm>
            <a:off x="310896" y="384048"/>
            <a:ext cx="852220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Interpreting the Silhouette Score</a:t>
            </a:r>
            <a:endParaRPr lang="en-US" sz="2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C3436A-11A5-DF1F-1F9C-78E036DEC0FE}"/>
              </a:ext>
            </a:extLst>
          </p:cNvPr>
          <p:cNvSpPr/>
          <p:nvPr/>
        </p:nvSpPr>
        <p:spPr>
          <a:xfrm>
            <a:off x="310896" y="1234440"/>
            <a:ext cx="852220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does sᵢ → 1?</a:t>
            </a:r>
            <a:endParaRPr lang="en-US" sz="1500" dirty="0"/>
          </a:p>
          <a:p>
            <a:pPr marL="685800" lvl="1" indent="-342900">
              <a:lnSpc>
                <a:spcPct val="108000"/>
              </a:lnSpc>
              <a:spcAft>
                <a:spcPts val="1000"/>
              </a:spcAft>
              <a:buSzPct val="100000"/>
              <a:buChar char="◦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aᵢ ≪ bᵢ: i is much closer to its own cluster than to any other → a great fit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does sᵢ → 0?</a:t>
            </a:r>
            <a:endParaRPr lang="en-US" sz="1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D5FFB23-2E9B-B30D-C992-564472823B7D}"/>
              </a:ext>
            </a:extLst>
          </p:cNvPr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4028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35668-45CA-A05F-823D-F7D0114D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11F8DD-13A5-0002-3911-F0D39376187A}"/>
              </a:ext>
            </a:extLst>
          </p:cNvPr>
          <p:cNvSpPr txBox="1"/>
          <p:nvPr/>
        </p:nvSpPr>
        <p:spPr>
          <a:xfrm>
            <a:off x="310896" y="384048"/>
            <a:ext cx="852220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Interpreting the Silhouette Score</a:t>
            </a:r>
            <a:endParaRPr lang="en-US" sz="2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1DA3F0-040A-F7C3-BEAB-61D1947A3332}"/>
              </a:ext>
            </a:extLst>
          </p:cNvPr>
          <p:cNvSpPr/>
          <p:nvPr/>
        </p:nvSpPr>
        <p:spPr>
          <a:xfrm>
            <a:off x="310896" y="1234440"/>
            <a:ext cx="852220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does sᵢ → 1?</a:t>
            </a:r>
            <a:endParaRPr lang="en-US" sz="1500" dirty="0"/>
          </a:p>
          <a:p>
            <a:pPr marL="685800" lvl="1" indent="-342900">
              <a:lnSpc>
                <a:spcPct val="108000"/>
              </a:lnSpc>
              <a:spcAft>
                <a:spcPts val="1000"/>
              </a:spcAft>
              <a:buSzPct val="100000"/>
              <a:buChar char="◦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aᵢ ≪ bᵢ: i is much closer to its own cluster than to any other → a great fit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does sᵢ → 0?</a:t>
            </a:r>
            <a:endParaRPr lang="en-US" sz="1500" dirty="0"/>
          </a:p>
          <a:p>
            <a:pPr marL="685800" lvl="1" indent="-342900">
              <a:lnSpc>
                <a:spcPct val="108000"/>
              </a:lnSpc>
              <a:spcAft>
                <a:spcPts val="1000"/>
              </a:spcAft>
              <a:buSzPct val="100000"/>
              <a:buChar char="◦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aᵢ ≈ bᵢ: i sits right on the boundary between two clusters</a:t>
            </a:r>
            <a:endParaRPr lang="en-US" sz="1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804C69C-D1A8-5ECE-8CF6-F8281303B21C}"/>
              </a:ext>
            </a:extLst>
          </p:cNvPr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0497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33FDB-6D45-6D43-29AD-63DBEFEE4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77977F1-B35A-AD43-D038-600A2ADE8691}"/>
              </a:ext>
            </a:extLst>
          </p:cNvPr>
          <p:cNvSpPr txBox="1"/>
          <p:nvPr/>
        </p:nvSpPr>
        <p:spPr>
          <a:xfrm>
            <a:off x="310896" y="384048"/>
            <a:ext cx="852220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Interpreting the Silhouette Score</a:t>
            </a:r>
            <a:endParaRPr lang="en-US" sz="2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E25993-C3FA-657E-7588-C0E2BF77F6B3}"/>
              </a:ext>
            </a:extLst>
          </p:cNvPr>
          <p:cNvSpPr/>
          <p:nvPr/>
        </p:nvSpPr>
        <p:spPr>
          <a:xfrm>
            <a:off x="310896" y="1234440"/>
            <a:ext cx="852220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does sᵢ → 1?</a:t>
            </a:r>
            <a:endParaRPr lang="en-US" sz="1500" dirty="0"/>
          </a:p>
          <a:p>
            <a:pPr marL="685800" lvl="1" indent="-342900">
              <a:lnSpc>
                <a:spcPct val="108000"/>
              </a:lnSpc>
              <a:spcAft>
                <a:spcPts val="1000"/>
              </a:spcAft>
              <a:buSzPct val="100000"/>
              <a:buChar char="◦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aᵢ ≪ bᵢ: i is much closer to its own cluster than to any other → a great fit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does sᵢ → 0?</a:t>
            </a:r>
            <a:endParaRPr lang="en-US" sz="1500" dirty="0"/>
          </a:p>
          <a:p>
            <a:pPr marL="685800" lvl="1" indent="-342900">
              <a:lnSpc>
                <a:spcPct val="108000"/>
              </a:lnSpc>
              <a:spcAft>
                <a:spcPts val="1000"/>
              </a:spcAft>
              <a:buSzPct val="100000"/>
              <a:buChar char="◦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aᵢ ≈ bᵢ: i sits right on the boundary between two clusters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does sᵢ → −1?</a:t>
            </a:r>
            <a:endParaRPr lang="en-US" sz="1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00A6BD3-4BCE-8EE1-D896-B86B21F7A403}"/>
              </a:ext>
            </a:extLst>
          </p:cNvPr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4757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84048"/>
            <a:ext cx="852220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Interpreting the Silhouette Score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310896" y="1234440"/>
            <a:ext cx="852220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does sᵢ → 1?</a:t>
            </a:r>
            <a:endParaRPr lang="en-US" sz="1500" dirty="0"/>
          </a:p>
          <a:p>
            <a:pPr marL="685800" lvl="1" indent="-342900">
              <a:lnSpc>
                <a:spcPct val="108000"/>
              </a:lnSpc>
              <a:spcAft>
                <a:spcPts val="1000"/>
              </a:spcAft>
              <a:buSzPct val="100000"/>
              <a:buChar char="◦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aᵢ ≪ bᵢ: i is much closer to its own cluster than to any other → a great fit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does sᵢ → 0?</a:t>
            </a:r>
            <a:endParaRPr lang="en-US" sz="1500" dirty="0"/>
          </a:p>
          <a:p>
            <a:pPr marL="685800" lvl="1" indent="-342900">
              <a:lnSpc>
                <a:spcPct val="108000"/>
              </a:lnSpc>
              <a:spcAft>
                <a:spcPts val="1000"/>
              </a:spcAft>
              <a:buSzPct val="100000"/>
              <a:buChar char="◦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aᵢ ≈ bᵢ: i sits right on the boundary between two clusters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does sᵢ → −1?</a:t>
            </a:r>
            <a:endParaRPr lang="en-US" sz="1500" dirty="0"/>
          </a:p>
          <a:p>
            <a:pPr marL="685800" lvl="1" indent="-342900">
              <a:lnSpc>
                <a:spcPct val="108000"/>
              </a:lnSpc>
              <a:spcAft>
                <a:spcPts val="1000"/>
              </a:spcAft>
              <a:buSzPct val="100000"/>
              <a:buChar char="◦"/>
            </a:pPr>
            <a:r>
              <a:rPr lang="en-US" sz="15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aᵢ ≫ bᵢ: i is actually closer to another cluster than its own → likely mis-clustered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84048"/>
            <a:ext cx="8522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 Plot — Well-Separated Clustering</a:t>
            </a:r>
            <a:endParaRPr lang="en-US" sz="2400" dirty="0"/>
          </a:p>
        </p:txBody>
      </p:sp>
      <p:pic>
        <p:nvPicPr>
          <p:cNvPr id="3" name="Image 0" descr="/tmp/claude-0/-home-claude/25316540-4197-5184-806b-140a80c5d084/scratchpad/deck/assets/scatter_g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2834640" cy="2834640"/>
          </a:xfrm>
          <a:prstGeom prst="rect">
            <a:avLst/>
          </a:prstGeom>
        </p:spPr>
      </p:pic>
      <p:pic>
        <p:nvPicPr>
          <p:cNvPr id="4" name="Image 1" descr="/tmp/claude-0/-home-claude/25316540-4197-5184-806b-140a80c5d084/scratchpad/deck/assets/silhouette_go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188720"/>
            <a:ext cx="5120640" cy="31089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10896" y="4590288"/>
            <a:ext cx="85222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colored band is one cluster; within a band, points are sorted by score. Tall, wide bands near 1 with the dashed average far to the right = a strong clustering.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84048"/>
            <a:ext cx="8522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 Plot — Overlapping Clustering</a:t>
            </a:r>
            <a:endParaRPr lang="en-US" sz="2400" dirty="0"/>
          </a:p>
        </p:txBody>
      </p:sp>
      <p:pic>
        <p:nvPicPr>
          <p:cNvPr id="3" name="Image 0" descr="/tmp/claude-0/-home-claude/25316540-4197-5184-806b-140a80c5d084/scratchpad/deck/assets/scatter_po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2834640" cy="2834640"/>
          </a:xfrm>
          <a:prstGeom prst="rect">
            <a:avLst/>
          </a:prstGeom>
        </p:spPr>
      </p:pic>
      <p:pic>
        <p:nvPicPr>
          <p:cNvPr id="4" name="Image 1" descr="/tmp/claude-0/-home-claude/25316540-4197-5184-806b-140a80c5d084/scratchpad/deck/assets/silhouette_po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188720"/>
            <a:ext cx="5120640" cy="31089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10896" y="4590288"/>
            <a:ext cx="85222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Thinner bands, scores clustered near 0, and a lower average — these points don't fit their assigned clusters nearly as cleanly.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10896" y="384048"/>
            <a:ext cx="8522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Silhouette Scores to Choose k</a:t>
            </a:r>
            <a:endParaRPr lang="en-US" sz="2400" dirty="0"/>
          </a:p>
        </p:txBody>
      </p:sp>
      <p:pic>
        <p:nvPicPr>
          <p:cNvPr id="3" name="Image 0" descr="/tmp/claude-0/-home-claude/25316540-4197-5184-806b-140a80c5d084/scratchpad/deck/assets/silhouette_vs_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832027"/>
            <a:ext cx="7132320" cy="37582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10896" y="4590288"/>
            <a:ext cx="85222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clustering for a range of k, compute the average silhouette score each time, and pick the k that maximizes it.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783080"/>
            <a:ext cx="6400800" cy="914"/>
          </a:xfrm>
          <a:prstGeom prst="line">
            <a:avLst/>
          </a:prstGeom>
          <a:noFill/>
          <a:ln w="381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3246120"/>
            <a:ext cx="6400800" cy="914"/>
          </a:xfrm>
          <a:prstGeom prst="line">
            <a:avLst/>
          </a:prstGeom>
          <a:noFill/>
          <a:ln w="381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6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32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fce3ce51-23f2-4a14-8d73-b7e1b42ed37d"/>
  <p:tag name="SLIDO_EVENT_UUID" val="168c5aae-7908-40de-85b9-a60709ab865a"/>
  <p:tag name="SLIDO_EVENT_SECTION_UUID" val="f5bf408b-32d7-4c21-adc9-2f9f82a0dd4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b947399a-9c09-4213-8218-a25f01475634"/>
  <p:tag name="SLIDO_POLL_QUESTION_UUID" val="558489b4-c3e3-4967-ab13-c17b8b2c0628"/>
  <p:tag name="SLIDO_KEEP_POLL_ACTIVE" val="false"/>
  <p:tag name="SLIDO_TIMELINE" val="W3sic2NyZWVuIjoiUXVpekpvaW5pbmcifSx7InNob3dDb3JyZWN0QW5zd2VycyI6ZmFsc2UsInBvbGxRdWVzdGlvblV1aWQiOiI1NTg0ODliNC1jM2UzLTQ5NjctYWIxMy1jMTdiOGIyYzA2MjgiLCJzaG93UmVzdWx0cyI6ZmFsc2UsInZvdGluZ0xvY2tlZCI6ZmFsc2V9LHsic2hvd0NvcnJlY3RBbnN3ZXJzIjpmYWxzZSwicG9sbFF1ZXN0aW9uVXVpZCI6IjU1ODQ4OWI0LWMzZTMtNDk2Ny1hYjEzLWMxN2I4YjJjMDYyOCIsInNob3dSZXN1bHRzIjp0cnVlLCJ2b3RpbmdMb2NrZWQiOnRydWV9LHsic2hvd0NvcnJlY3RBbnN3ZXJzIjp0cnVlLCJwb2xsUXVlc3Rpb25VdWlkIjoiNTU4NDg5YjQtYzNlMy00OTY3LWFiMTMtYzE3YjhiMmMwNjI4Iiwic2hvd1Jlc3VsdHMiOnRydWUsInZvdGluZ0xvY2tlZCI6dHJ1ZX1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b947399a-9c09-4213-8218-a25f01475634"/>
  <p:tag name="SLIDO_POLL_QUESTION_UUID" val="f4c94919-218d-4bba-9f39-b04911ca1bae"/>
  <p:tag name="SLIDO_KEEP_POLL_ACTIVE" val="false"/>
  <p:tag name="SLIDO_TIMELINE" val="W3sic2NyZWVuIjoiUXVpekdldFJlYWR5In0seyJzaG93UmVzdWx0cyI6ZmFsc2UsInZvdGluZ0xvY2tlZCI6ZmFsc2UsInNob3dDb3JyZWN0QW5zd2VycyI6ZmFsc2UsInBvbGxRdWVzdGlvblV1aWQiOiJmNGM5NDkxOS0yMThkLTRiYmEtOWYzOS1iMDQ5MTFjYTFiYWUifSx7InNob3dSZXN1bHRzIjp0cnVlLCJ2b3RpbmdMb2NrZWQiOnRydWUsInNob3dDb3JyZWN0QW5zd2VycyI6ZmFsc2UsInBvbGxRdWVzdGlvblV1aWQiOiJmNGM5NDkxOS0yMThkLTRiYmEtOWYzOS1iMDQ5MTFjYTFiYWUifSx7InNob3dSZXN1bHRzIjp0cnVlLCJ2b3RpbmdMb2NrZWQiOnRydWUsInNob3dDb3JyZWN0QW5zd2VycyI6dHJ1ZSwicG9sbFF1ZXN0aW9uVXVpZCI6ImY0Yzk0OTE5LTIxOGQtNGJiYS05ZjM5LWIwNDkxMWNhMWJhZSJ9XQ=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b947399a-9c09-4213-8218-a25f01475634"/>
  <p:tag name="SLIDO_POLL_QUESTION_UUID" val="217535f4-a061-419e-a4af-a294736401a2"/>
  <p:tag name="SLIDO_KEEP_POLL_ACTIVE" val="false"/>
  <p:tag name="SLIDO_TIMELINE" val="W3sic2NyZWVuIjoiUXVpekdldFJlYWR5In0seyJzaG93UmVzdWx0cyI6ZmFsc2UsInZvdGluZ0xvY2tlZCI6ZmFsc2UsInBvbGxRdWVzdGlvblV1aWQiOiIyMTc1MzVmNC1hMDYxLTQxOWUtYTRhZi1hMjk0NzM2NDAxYTIiLCJzaG93Q29ycmVjdEFuc3dlcnMiOmZhbHNlfSx7InNob3dSZXN1bHRzIjp0cnVlLCJ2b3RpbmdMb2NrZWQiOnRydWUsInBvbGxRdWVzdGlvblV1aWQiOiIyMTc1MzVmNC1hMDYxLTQxOWUtYTRhZi1hMjk0NzM2NDAxYTIiLCJzaG93Q29ycmVjdEFuc3dlcnMiOmZhbHNlfSx7InNob3dSZXN1bHRzIjp0cnVlLCJ2b3RpbmdMb2NrZWQiOnRydWUsInBvbGxRdWVzdGlvblV1aWQiOiIyMTc1MzVmNC1hMDYxLTQxOWUtYTRhZi1hMjk0NzM2NDAxYTIiLCJzaG93Q29ycmVjdEFuc3dlcnMiOnRydWV9XQ=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b947399a-9c09-4213-8218-a25f01475634"/>
  <p:tag name="SLIDO_POLL_QUESTION_UUID" val="4bd1a633-bd02-4068-b4fc-bf1d12841f5c"/>
  <p:tag name="SLIDO_KEEP_POLL_ACTIVE" val="false"/>
  <p:tag name="SLIDO_TIMELINE" val="W3sic2hvd1Jlc3VsdHMiOmZhbHNlLCJzaG93Q29ycmVjdEFuc3dlcnMiOmZhbHNlLCJwb2xsUXVlc3Rpb25VdWlkIjoiNGJkMWE2MzMtYmQwMi00MDY4LWI0ZmMtYmYxZDEyODQxZjVjIiwidm90aW5nTG9ja2VkIjpmYWxzZX0seyJzaG93UmVzdWx0cyI6dHJ1ZSwic2hvd0NvcnJlY3RBbnN3ZXJzIjpmYWxzZSwicG9sbFF1ZXN0aW9uVXVpZCI6IjRiZDFhNjMzLWJkMDItNDA2OC1iNGZjLWJmMWQxMjg0MWY1YyIsInZvdGluZ0xvY2tlZCI6dHJ1ZX0seyJzaG93UmVzdWx0cyI6dHJ1ZSwic2hvd0NvcnJlY3RBbnN3ZXJzIjp0cnVlLCJwb2xsUXVlc3Rpb25VdWlkIjoiNGJkMWE2MzMtYmQwMi00MDY4LWI0ZmMtYmYxZDEyODQxZjVjIiwidm90aW5nTG9ja2VkIjp0cnVlfV0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b947399a-9c09-4213-8218-a25f01475634"/>
  <p:tag name="SLIDO_POLL_QUESTION_UUID" val="444db1ff-2ad1-4a10-b918-71c26691e667"/>
  <p:tag name="SLIDO_KEEP_POLL_ACTIVE" val="false"/>
  <p:tag name="SLIDO_TIMELINE" val="W3sic2hvd0NvcnJlY3RBbnN3ZXJzIjpmYWxzZSwicG9sbFF1ZXN0aW9uVXVpZCI6IjQ0NGRiMWZmLTJhZDEtNGExMC1iOTE4LTcxYzI2NjkxZTY2NyIsInZvdGluZ0xvY2tlZCI6ZmFsc2UsInNob3dSZXN1bHRzIjpmYWxzZX0seyJzaG93Q29ycmVjdEFuc3dlcnMiOmZhbHNlLCJwb2xsUXVlc3Rpb25VdWlkIjoiNDQ0ZGIxZmYtMmFkMS00YTEwLWI5MTgtNzFjMjY2OTFlNjY3Iiwidm90aW5nTG9ja2VkIjp0cnVlLCJzaG93UmVzdWx0cyI6dHJ1ZX0seyJzaG93Q29ycmVjdEFuc3dlcnMiOnRydWUsInBvbGxRdWVzdGlvblV1aWQiOiI0NDRkYjFmZi0yYWQxLTRhMTAtYjkxOC03MWMyNjY5MWU2NjciLCJ2b3RpbmdMb2NrZWQiOnRydWUsInNob3dSZXN1bHRzIjp0cnVlfSx7InNob3dDb3JyZWN0QW5zd2VycyI6dHJ1ZSwic2NyZWVuIjoiUXVpekxlYWRlcmJvYXJkIiwicG9sbFF1ZXN0aW9uVXVpZCI6IjQ0NGRiMWZmLTJhZDEtNGExMC1iOTE4LTcxYzI2NjkxZTY2NyIsInZvdGluZ0xvY2tlZCI6dHJ1ZSwic2hvd1Jlc3VsdHMiOnRydWV9XQ=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4DB6AC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1607</Words>
  <Application>Microsoft Macintosh PowerPoint</Application>
  <PresentationFormat>On-screen Show (16:9)</PresentationFormat>
  <Paragraphs>235</Paragraphs>
  <Slides>41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Cambria Math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PowerPoint Presentation</vt:lpstr>
      <vt:lpstr>Example</vt:lpstr>
      <vt:lpstr>Example</vt:lpstr>
      <vt:lpstr>Example</vt:lpstr>
      <vt:lpstr>Example</vt:lpstr>
      <vt:lpstr>Example</vt:lpstr>
      <vt:lpstr>PowerPoint Presentation</vt:lpstr>
      <vt:lpstr>Example</vt:lpstr>
      <vt:lpstr>Example</vt:lpstr>
      <vt:lpstr>Example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3 - Hierarchical Clustering, DBSCAN &amp; Silhouette Scores</dc:title>
  <dc:subject>PptxGenJS Presentation</dc:subject>
  <dc:creator>CS 506 Teaching Staff</dc:creator>
  <cp:lastModifiedBy>Betco, Marius</cp:lastModifiedBy>
  <cp:revision>8</cp:revision>
  <dcterms:created xsi:type="dcterms:W3CDTF">2026-09-24T16:54:15Z</dcterms:created>
  <dcterms:modified xsi:type="dcterms:W3CDTF">2026-09-25T02:34:25Z</dcterms:modified>
</cp:coreProperties>
</file>