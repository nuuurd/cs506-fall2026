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9" r:id="rId25"/>
    <p:sldId id="280" r:id="rId26"/>
    <p:sldId id="300" r:id="rId27"/>
    <p:sldId id="282" r:id="rId28"/>
    <p:sldId id="301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2" r:id="rId42"/>
    <p:sldId id="297" r:id="rId43"/>
    <p:sldId id="298" r:id="rId4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custDataLst>
    <p:tags r:id="rId5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4661"/>
  </p:normalViewPr>
  <p:slideViewPr>
    <p:cSldViewPr snapToGrid="0">
      <p:cViewPr varScale="1">
        <p:scale>
          <a:sx n="79" d="100"/>
          <a:sy n="79" d="100"/>
        </p:scale>
        <p:origin x="208" y="1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EE6C00"/>
                </a:solidFill>
                <a:latin typeface="PT Sans Narrow"/>
                <a:cs typeface="PT Sans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686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99762"/>
            <a:ext cx="29584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EE6C00"/>
                </a:solidFill>
                <a:latin typeface="PT Sans Narrow"/>
                <a:cs typeface="PT Sans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10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4.xml"/><Relationship Id="rId7" Type="http://schemas.openxmlformats.org/officeDocument/2006/relationships/image" Target="../media/image2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svg"/><Relationship Id="rId5" Type="http://schemas.openxmlformats.org/officeDocument/2006/relationships/tags" Target="../tags/tag1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5.xml"/><Relationship Id="rId9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2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svg"/><Relationship Id="rId5" Type="http://schemas.openxmlformats.org/officeDocument/2006/relationships/tags" Target="../tags/tag2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0.xml"/><Relationship Id="rId9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3650" y="1782261"/>
            <a:ext cx="7136700" cy="1022400"/>
          </a:xfrm>
        </p:spPr>
        <p:txBody>
          <a:bodyPr>
            <a:normAutofit fontScale="90000"/>
          </a:bodyPr>
          <a:lstStyle/>
          <a:p>
            <a:r>
              <a:rPr dirty="0"/>
              <a:t>GMM &amp; Disagreement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 506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221992"/>
            <a:ext cx="8522208" cy="704088"/>
          </a:xfrm>
        </p:spPr>
        <p:txBody>
          <a:bodyPr>
            <a:normAutofit fontScale="90000"/>
          </a:bodyPr>
          <a:lstStyle/>
          <a:p>
            <a:pPr algn="ctr"/>
            <a:r>
              <a:t>Soft Clustering/Gaussian Mixture Modeling (GMM)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Soft Clustering</a:t>
            </a:r>
          </a:p>
        </p:txBody>
      </p:sp>
      <p:sp>
        <p:nvSpPr>
          <p:cNvPr id="20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Points are not hard-assigned to clusters!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Soft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Points are not hard-assigned to clusters!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Instead, points are assigned to each cluster with a probability</a:t>
                </a:r>
              </a:p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probability of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being assigned to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0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Points are not hard-assigned to clusters!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Instead, points are assigned to each cluster with a probability</a:t>
                </a:r>
              </a:p>
              <a:p>
                <a:r>
                  <a:rPr lang="en-US" dirty="0"/>
                  <a:t>ℙ(S_j | X_i)</a:t>
                </a:r>
                <a:r>
                  <a:rPr lang="en-US" dirty="0"/>
                  <a:t> = probability of data point </a:t>
                </a:r>
                <a:r>
                  <a:rPr lang="en-US" dirty="0"/>
                  <a:t>i</a:t>
                </a:r>
                <a:r>
                  <a:rPr lang="en-US" dirty="0"/>
                  <a:t> being assigned to cluster </a:t>
                </a:r>
                <a:r>
                  <a:rPr lang="en-US" dirty="0"/>
                  <a:t>j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Soft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Points are not hard-assigned to clusters!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Instead, points are assigned to each cluster with a probability</a:t>
                </a:r>
              </a:p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probability of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being assigned to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 a point halfway between two species might get probability 0.55 for one species and 0.45 for the other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0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Points are not hard-assigned to clusters!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Instead, points are assigned to each cluster with a probability</a:t>
                </a:r>
              </a:p>
              <a:p>
                <a:r>
                  <a:rPr lang="en-US" dirty="0"/>
                  <a:t>ℙ(S_j | X_i)</a:t>
                </a:r>
                <a:r>
                  <a:rPr lang="en-US" dirty="0"/>
                  <a:t> = probability of data point </a:t>
                </a:r>
                <a:r>
                  <a:rPr lang="en-US" dirty="0"/>
                  <a:t>i</a:t>
                </a:r>
                <a:r>
                  <a:rPr lang="en-US" dirty="0"/>
                  <a:t> being assigned to cluster </a:t>
                </a:r>
                <a:r>
                  <a:rPr lang="en-US" dirty="0"/>
                  <a:t>j</a:t>
                </a:r>
              </a:p>
              <a:p>
                <a:r>
                  <a:rPr lang="en-US" dirty="0"/>
                  <a:t>E.g., a point halfway between two species might get probability 0.55 for one species and 0.45 for the other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07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Bayes’ theorem!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09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Bayes’ theorem!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randomly sampling from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drawing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1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:r>
                  <a:rPr lang="en-US" dirty="0"/>
                  <a:t>ℙ(X_i | S_j)</a:t>
                </a:r>
                <a:r>
                  <a:rPr lang="en-US" dirty="0"/>
                  <a:t>: probability of randomly sampling from cluster </a:t>
                </a:r>
                <a:r>
                  <a:rPr lang="en-US" dirty="0"/>
                  <a:t>j</a:t>
                </a:r>
                <a:r>
                  <a:rPr lang="en-US" dirty="0"/>
                  <a:t> and drawing data point </a:t>
                </a:r>
                <a:r>
                  <a:rPr lang="en-US" dirty="0"/>
                  <a:t>i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randomly sampling from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drawing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Prior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any data point being a member of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1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:r>
                  <a:rPr lang="en-US" dirty="0"/>
                  <a:t>ℙ(X_i | S_j)</a:t>
                </a:r>
                <a:r>
                  <a:rPr lang="en-US" dirty="0"/>
                  <a:t>: probability of randomly sampling from cluster </a:t>
                </a:r>
                <a:r>
                  <a:rPr lang="en-US" dirty="0"/>
                  <a:t>j</a:t>
                </a:r>
                <a:r>
                  <a:rPr lang="en-US" dirty="0"/>
                  <a:t> and drawing data point </a:t>
                </a:r>
                <a:r>
                  <a:rPr lang="en-US" dirty="0"/>
                  <a:t>i</a:t>
                </a:r>
              </a:p>
              <a:p>
                <a:r>
                  <a:rPr lang="en-US" b="1" dirty="0"/>
                  <a:t>Prior </a:t>
                </a:r>
                <a:r>
                  <a:rPr lang="en-US" dirty="0"/>
                  <a:t>ℙ(S_j)</a:t>
                </a:r>
                <a:r>
                  <a:rPr lang="en-US" dirty="0"/>
                  <a:t>: probability of any data point being a member of cluster </a:t>
                </a:r>
                <a:r>
                  <a:rPr lang="en-US" dirty="0"/>
                  <a:t>j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randomly sampling from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drawing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Prior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any data point being a member of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Evidence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probability of drawing data point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1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Likelihood </a:t>
                </a:r>
                <a:r>
                  <a:rPr lang="en-US" dirty="0"/>
                  <a:t>ℙ(X_i | S_j)</a:t>
                </a:r>
                <a:r>
                  <a:rPr lang="en-US" dirty="0"/>
                  <a:t>: probability of randomly sampling from cluster </a:t>
                </a:r>
                <a:r>
                  <a:rPr lang="en-US" dirty="0"/>
                  <a:t>j</a:t>
                </a:r>
                <a:r>
                  <a:rPr lang="en-US" dirty="0"/>
                  <a:t> and drawing data point </a:t>
                </a:r>
                <a:r>
                  <a:rPr lang="en-US" dirty="0"/>
                  <a:t>i</a:t>
                </a:r>
              </a:p>
              <a:p>
                <a:r>
                  <a:rPr lang="en-US" b="1" dirty="0"/>
                  <a:t>Prior </a:t>
                </a:r>
                <a:r>
                  <a:rPr lang="en-US" dirty="0"/>
                  <a:t>ℙ(S_j)</a:t>
                </a:r>
                <a:r>
                  <a:rPr lang="en-US" dirty="0"/>
                  <a:t>: probability of any data point being a member of cluster </a:t>
                </a:r>
                <a:r>
                  <a:rPr lang="en-US" dirty="0"/>
                  <a:t>j</a:t>
                </a:r>
              </a:p>
              <a:p>
                <a:r>
                  <a:rPr lang="en-US" b="1" dirty="0"/>
                  <a:t>Evidence </a:t>
                </a:r>
                <a:r>
                  <a:rPr lang="en-US" dirty="0"/>
                  <a:t>ℙ(X_i)</a:t>
                </a:r>
                <a:r>
                  <a:rPr lang="en-US" dirty="0"/>
                  <a:t>: probability of drawing data point </a:t>
                </a:r>
                <a:r>
                  <a:rPr lang="en-US" dirty="0"/>
                  <a:t>i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Requirement: the probabilities for a data point must sum to 1 over all clusters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17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Requirement: the probabilities for a data point must sum to 1 over all clusters</a:t>
                </a:r>
              </a:p>
              <a:p>
                <a:pPr marL="114300" indent="0">
                  <a:buNone/>
                </a:pPr>
                <a:r>
                  <a:rPr lang="en-US" dirty="0"/>
                  <a:t>∑_j=1 ℙ(S_j | X_i)=1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Mixture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say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comes from a mixture model if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={1, 2,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 …, 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19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say </a:t>
                </a:r>
                <a:r>
                  <a:rPr lang="en-US" dirty="0"/>
                  <a:t>X</a:t>
                </a:r>
                <a:r>
                  <a:rPr lang="en-US" dirty="0"/>
                  <a:t> comes from a mixture model if</a:t>
                </a:r>
              </a:p>
              <a:p>
                <a:pPr marL="114300" indent="0">
                  <a:buNone/>
                </a:pPr>
                <a:r>
                  <a:rPr lang="en-US" dirty="0"/>
                  <a:t>ℙ(X_i)=∑_j∈Ω ℙ(S_j)ℙ(X_i | S_j),Ω={1, 2, …, k}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Mixture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say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comes from a mixture model if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={1, 2,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 …, 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Law of total probability!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2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ℙ(S_j | X_i)=(ℙ(X_i | S_j)ℙ(S_j)) / (ℙ(X_i))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say </a:t>
                </a:r>
                <a:r>
                  <a:rPr lang="en-US" dirty="0"/>
                  <a:t>X</a:t>
                </a:r>
                <a:r>
                  <a:rPr lang="en-US" dirty="0"/>
                  <a:t> comes from a mixture model if</a:t>
                </a:r>
              </a:p>
              <a:p>
                <a:pPr marL="114300" indent="0">
                  <a:buNone/>
                </a:pPr>
                <a:r>
                  <a:rPr lang="en-US" dirty="0"/>
                  <a:t>ℙ(X_i)=∑_j∈Ω ℙ(S_j)ℙ(X_i | S_j),Ω={1, 2, …, k}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Law of total probability!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Gaussian Mixture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data points in each cluster follow a normal distribution parameterized w.r.t. that cluster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Sup>
                                <m:sSub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the mean (center) of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is its variance (spread)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mixture weight of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and the weights sum to 1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2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data points in each cluster follow a normal distribution parameterized w.r.t. that cluster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N(x_i | μ_j,σ_j²)=1 / (sqrt(2πσ_j²))·exp((−(x_i−μ_j)²) / 2σ_j²)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μ_j</a:t>
                </a:r>
                <a:r>
                  <a:rPr lang="en-US" dirty="0"/>
                  <a:t> is the mean (center) of cluster </a:t>
                </a:r>
                <a:r>
                  <a:rPr lang="en-US" dirty="0"/>
                  <a:t>j</a:t>
                </a:r>
                <a:r>
                  <a:rPr lang="en-US" dirty="0"/>
                  <a:t>; </a:t>
                </a:r>
                <a:r>
                  <a:rPr lang="en-US" dirty="0"/>
                  <a:t>σ_j²</a:t>
                </a:r>
                <a:r>
                  <a:rPr lang="en-US" dirty="0"/>
                  <a:t> is its variance (spread)</a:t>
                </a:r>
              </a:p>
              <a:p>
                <a:r>
                  <a:rPr lang="en-US" dirty="0"/>
                  <a:t>π_j</a:t>
                </a:r>
                <a:r>
                  <a:rPr lang="en-US" dirty="0"/>
                  <a:t> = </a:t>
                </a:r>
                <a:r>
                  <a:rPr lang="en-US" dirty="0"/>
                  <a:t>ℙ(S_j)</a:t>
                </a:r>
                <a:r>
                  <a:rPr lang="en-US" dirty="0"/>
                  <a:t> is the mixture weight of cluster </a:t>
                </a:r>
                <a:r>
                  <a:rPr lang="en-US" dirty="0"/>
                  <a:t>j</a:t>
                </a:r>
                <a:r>
                  <a:rPr lang="en-US" dirty="0"/>
                  <a:t>, and the weights sum to 1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MLE</a:t>
            </a:r>
          </a:p>
        </p:txBody>
      </p:sp>
      <p:sp>
        <p:nvSpPr>
          <p:cNvPr id="22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Goal: find parameters that maximize the probability of having seen the data we got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Assume the data points were sampled independently</a:t>
            </a:r>
          </a:p>
          <a:p>
            <a:r>
              <a:rPr lang="en-US" dirty="0"/>
              <a:t>Then the probability of the whole dataset is the product of the probabilities of each data point</a:t>
            </a:r>
          </a:p>
          <a:p>
            <a:r>
              <a:rPr lang="en-US" dirty="0"/>
              <a:t>This product is called the </a:t>
            </a:r>
            <a:r>
              <a:rPr lang="en-US" i="1" dirty="0"/>
              <a:t>likelihood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GMM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Goal: find the GMM clustering that maximizes the probability of seeing the data we have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ℙ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Find the parameters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) that maximize this likelihood!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26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Goal: find the GMM clustering that maximizes the probability of seeing the data we have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L(θ)=∏_i=1 ℙ(X_i)=∏_i=1 ∑_j=1 π_jN(x_i | μ_j,σ_j²)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Find the parameters </a:t>
                </a:r>
                <a:r>
                  <a:rPr lang="en-US" dirty="0"/>
                  <a:t>θ</a:t>
                </a:r>
                <a:r>
                  <a:rPr lang="en-US" dirty="0"/>
                  <a:t> = (</a:t>
                </a:r>
                <a:r>
                  <a:rPr lang="en-US" dirty="0"/>
                  <a:t>π_j</a:t>
                </a:r>
                <a:r>
                  <a:rPr lang="en-US" dirty="0"/>
                  <a:t>, </a:t>
                </a:r>
                <a:r>
                  <a:rPr lang="en-US" dirty="0"/>
                  <a:t>μ_j</a:t>
                </a:r>
                <a:r>
                  <a:rPr lang="en-US" dirty="0"/>
                  <a:t>, </a:t>
                </a:r>
                <a:r>
                  <a:rPr lang="en-US" dirty="0"/>
                  <a:t>σ_j²</a:t>
                </a:r>
                <a:r>
                  <a:rPr lang="en-US" dirty="0"/>
                  <a:t>) that maximize this likelihood!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GMM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Taking the log turns the product into a sum, which is easier to differentiate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logL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Problem: the log sits outside the inner sum, so the derivatives do not give a closed-form answer</a:t>
                </a:r>
              </a:p>
              <a:p>
                <a:r>
                  <a:rPr lang="en-US" dirty="0"/>
                  <a:t>We need an iterative method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28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Taking the log turns the product into a sum, which is easier to differentiate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logL(θ)=∑_i=1 log(∑_j=1 π_jN(x_i | μ_j,σ_j²))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Problem: the log sits outside the inner sum, so the derivatives do not give a closed-form answer</a:t>
                </a:r>
              </a:p>
              <a:p>
                <a:r>
                  <a:rPr lang="en-US" dirty="0"/>
                  <a:t>We need an iterative method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Maximum Likelihood for GMM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How do we typically find the maximum of functions? Hmm…</a:t>
                </a:r>
              </a:p>
              <a:p>
                <a:pPr marL="114300" indent="0">
                  <a:buNone/>
                </a:pPr>
                <a:r>
                  <a:rPr lang="en-US" dirty="0"/>
                  <a:t>Critical points!!!  Derivatives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Setting the derivatives to 0 gives parameters that depend on the soft assignments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 the soft assignments depend on the parameters, so the equations are circular</a:t>
                </a:r>
              </a:p>
              <a:p>
                <a:r>
                  <a:rPr lang="en-US" dirty="0"/>
                  <a:t>Solution: alternate between the two (Expectation Maximization)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3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How do we typically find the maximum of functions? Hmm…</a:t>
                </a:r>
              </a:p>
              <a:p>
                <a:pPr marL="114300" indent="0">
                  <a:buNone/>
                </a:pPr>
                <a:r>
                  <a:rPr lang="en-US" dirty="0"/>
                  <a:t>Critical points!!!  Derivatives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Setting the derivatives to 0 gives parameters that depend on the soft assignments </a:t>
                </a:r>
                <a:r>
                  <a:rPr lang="en-US" dirty="0"/>
                  <a:t>γ</a:t>
                </a:r>
                <a:r>
                  <a:rPr lang="en-US" dirty="0"/>
                  <a:t/>
                </a:r>
              </a:p>
              <a:p>
                <a:r>
                  <a:rPr lang="en-US" dirty="0"/>
                  <a:t>But the soft assignments depend on the parameters, so the equations are circular</a:t>
                </a:r>
              </a:p>
              <a:p>
                <a:r>
                  <a:rPr lang="en-US" dirty="0"/>
                  <a:t>Solution: alternate between the two (Expectation Maximization)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Expectation Maximization (EM)</a:t>
            </a:r>
          </a:p>
        </p:txBody>
      </p:sp>
      <p:sp>
        <p:nvSpPr>
          <p:cNvPr id="2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use this algorithm to iteratively estimate the parameters for our GMM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Initialize</a:t>
            </a:r>
            <a:r>
              <a:rPr lang="en-US" dirty="0"/>
              <a:t> the means, variances, and weights (e.g., with K-means)</a:t>
            </a:r>
          </a:p>
          <a:p>
            <a:r>
              <a:rPr lang="en-US" b="1" dirty="0"/>
              <a:t>E-step:</a:t>
            </a:r>
            <a:r>
              <a:rPr lang="en-US" dirty="0"/>
              <a:t> compute the soft assignment of every point to every cluster</a:t>
            </a:r>
          </a:p>
          <a:p>
            <a:r>
              <a:rPr lang="en-US" b="1" dirty="0"/>
              <a:t>M-step:</a:t>
            </a:r>
            <a:r>
              <a:rPr lang="en-US" dirty="0"/>
              <a:t> update the parameters using those soft assignments</a:t>
            </a:r>
          </a:p>
          <a:p>
            <a:r>
              <a:rPr lang="en-US" dirty="0"/>
              <a:t>Repeat until the log-likelihood stops improving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E-step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Compute the soft assignments (responsibilities) with the current parameters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N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  <m:sup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This is Bayes’ theorem: prior × likelihood, divided by the evidence</a:t>
                </a:r>
              </a:p>
              <a:p>
                <a:r>
                  <a:rPr lang="en-US" dirty="0"/>
                  <a:t>Each point’s responsibilities sum to 1 across clusters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3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Compute the soft assignments (responsibilities) with the current parameters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γ_ij=ℙ(S_j | X_i)=(π_jN(x_i | μ_j,σ_j²)) / (∑_l=1 π_lN(x_i | μ_l,σ_l²))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This is Bayes’ theorem: prior × likelihood, divided by the evidence</a:t>
                </a:r>
              </a:p>
              <a:p>
                <a:r>
                  <a:rPr lang="en-US" dirty="0"/>
                  <a:t>Each point’s responsibilities sum to 1 across clusters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M-step: Updating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be the effective number of points in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3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Let </a:t>
                </a:r>
                <a:r>
                  <a:rPr lang="en-US" dirty="0"/>
                  <a:t>N_j</a:t>
                </a:r>
                <a:r>
                  <a:rPr lang="en-US" dirty="0"/>
                  <a:t> = </a:t>
                </a:r>
                <a:r>
                  <a:rPr lang="en-US" dirty="0"/>
                  <a:t>∑_i γ_ij</a:t>
                </a:r>
                <a:r>
                  <a:rPr lang="en-US" dirty="0"/>
                  <a:t> be the effective number of points in cluster </a:t>
                </a:r>
                <a:r>
                  <a:rPr lang="en-US" dirty="0"/>
                  <a:t>j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π_j=N_j / N</a:t>
                </a:r>
              </a:p>
              <a:p>
                <a:pPr marL="114300" indent="0">
                  <a:buNone/>
                </a:pPr>
                <a:r>
                  <a:rPr lang="en-US" dirty="0"/>
                  <a:t>μ_j=1 / N_j∑_i γ_ijx_i</a:t>
                </a:r>
              </a:p>
              <a:p>
                <a:pPr marL="114300" indent="0">
                  <a:buNone/>
                </a:pPr>
                <a:r>
                  <a:rPr lang="en-US" dirty="0"/>
                  <a:t>σ_j²=1 / N_j∑_i γ_ij(x_i−μ_j)²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M-step: Updating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be the effective number of points in cluster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These are the critical points we solved for earlier!!!</a:t>
                </a:r>
              </a:p>
            </p:txBody>
          </p:sp>
        </mc:Choice>
        <mc:Fallback>
          <p:sp>
            <p:nvSpPr>
              <p:cNvPr id="236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0345" b="-18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Measuring Convergence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Track the log-likelihood after every M-step and stop when it barely changes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logL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</m:sup>
                          </m:sSup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logL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p>
                          </m:sSup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EM never decreases the likelihood, so it converges</a:t>
                </a:r>
              </a:p>
              <a:p>
                <a:r>
                  <a:rPr lang="en-US" dirty="0"/>
                  <a:t>It converges to a local optimum, not necessarily the global one</a:t>
                </a:r>
              </a:p>
              <a:p>
                <a:r>
                  <a:rPr lang="en-US" dirty="0"/>
                  <a:t>So initialization matters: K-means is a common starting point, or restart EM several times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39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Track the log-likelihood after every M-step and stop when it barely changes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|logL(θ^new)−logL(θ^old)|&lt;ε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EM never decreases the likelihood, so it converges</a:t>
                </a:r>
              </a:p>
              <a:p>
                <a:r>
                  <a:rPr lang="en-US" dirty="0"/>
                  <a:t>It converges to a local optimum, not necessarily the global one</a:t>
                </a:r>
              </a:p>
              <a:p>
                <a:r>
                  <a:rPr lang="en-US" dirty="0"/>
                  <a:t>So initialization matters: K-means is a common starting point, or restart EM several times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6A70E-C38A-CA1D-A641-A70EC55093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4F6D7-28CE-797D-E20A-3FE6011AF63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How many parameters does a GMM need to estimate for k clusters and 1D 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62CB6-BCC0-5B1C-5EC3-36649365B33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93FE493-8507-B593-D8DC-95850BE2C8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3EA91A2-6CA8-96B3-3407-24E5E3B95C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E3855B-9447-66C2-FEB8-AC0A00C6C50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974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k</a:t>
                </a:r>
                <a:r>
                  <a:rPr lang="en-US" dirty="0"/>
                  <a:t> means: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k</a:t>
                </a:r>
                <a:r>
                  <a:rPr lang="en-US" dirty="0"/>
                  <a:t> variances: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b="1" dirty="0"/>
                  <a:t>k − 1</a:t>
                </a:r>
                <a:r>
                  <a:rPr lang="en-US" dirty="0"/>
                  <a:t> weights: the last weight is determined since the weights sum to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1" dirty="0"/>
                  <a:t>Total: 3k − 1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d dimensions each variance becomes a covariance matrix with d(d+1)/2 parameters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4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k</a:t>
                </a:r>
                <a:r>
                  <a:rPr lang="en-US" dirty="0"/>
                  <a:t> means: </a:t>
                </a:r>
                <a:r>
                  <a:rPr lang="en-US" dirty="0"/>
                  <a:t>μ_j</a:t>
                </a:r>
              </a:p>
              <a:p>
                <a:r>
                  <a:rPr lang="en-US" b="1" dirty="0"/>
                  <a:t>k</a:t>
                </a:r>
                <a:r>
                  <a:rPr lang="en-US" dirty="0"/>
                  <a:t> variances: </a:t>
                </a:r>
                <a:r>
                  <a:rPr lang="en-US" dirty="0"/>
                  <a:t>σ_j²</a:t>
                </a:r>
              </a:p>
              <a:p>
                <a:r>
                  <a:rPr lang="en-US" b="1" dirty="0"/>
                  <a:t>k − 1</a:t>
                </a:r>
                <a:r>
                  <a:rPr lang="en-US" dirty="0"/>
                  <a:t> weights: the last weight is determined since the weights sum to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1" dirty="0"/>
                  <a:t>Total: 3k − 1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In d dimensions each variance becomes a covariance matrix with d(d+1)/2 parameters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435F7C-4C3E-B0B3-2136-BE1F543789D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FB6AC-3A79-49A0-CBC9-CF78B0EB523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Since outliers most likely don’t belong to any cluster, the probabilities of belonging to each cluster assigned by a GMM will all be small. True or false?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2BE182-570C-77E5-7466-45523FCE66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1EC8F1-5B7D-6180-A4A1-0C903F9FCB6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74576E2-AEC7-DDFC-8B26-511A7EC0146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42008D-A955-9C51-EE95-33A19FF4D7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243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b="1" dirty="0"/>
                  <a:t>False!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must sum to 1 over all clusters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they cannot all be small. Some cluster is always the most likely, even for an outlier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4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b="1" dirty="0"/>
                  <a:t>False!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ℙ(S_j | X_i)</a:t>
                </a:r>
                <a:r>
                  <a:rPr lang="en-US" dirty="0"/>
                  <a:t> must sum to 1 over all clusters </a:t>
                </a:r>
                <a:r>
                  <a:rPr lang="en-US" dirty="0"/>
                  <a:t>j</a:t>
                </a:r>
              </a:p>
              <a:p>
                <a:r>
                  <a:rPr lang="en-US" dirty="0"/>
                  <a:t>So they cannot all be small. Some cluster is always the most likely, even for an outlier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83FD02-179E-4D4B-DDDB-477452FFFD3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F9CFC3-9357-B619-F65B-C11A84E47C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In a GMM, what is the likelihood of the data (with N data points) when k = 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52999-6D00-490A-A99F-7635BAC8746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F373482-48D1-37AB-5913-69B84EE7F63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BAD67CA-EB85-5238-0D83-A211E722F5B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D011461-5ACE-3EFD-A867-292BF56F58B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686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 – qualitative approach!</a:t>
            </a:r>
          </a:p>
        </p:txBody>
      </p:sp>
      <p:sp>
        <p:nvSpPr>
          <p:cNvPr id="2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k = N, each cluster can sit exactly on one data point with variance 0</a:t>
            </a:r>
          </a:p>
          <a:p>
            <a:pPr marL="114300" indent="0">
              <a:buNone/>
            </a:pPr>
            <a:r>
              <a:rPr lang="en-US" dirty="0"/>
              <a:t>→  the normal density is unbounded at its mean</a:t>
            </a:r>
          </a:p>
          <a:p>
            <a:pPr marL="114300" indent="0">
              <a:buNone/>
            </a:pPr>
            <a:r>
              <a:rPr lang="en-US" dirty="0"/>
              <a:t>→  “infinite” density height at the mean</a:t>
            </a:r>
          </a:p>
          <a:p>
            <a:pPr marL="114300" indent="0">
              <a:buNone/>
            </a:pPr>
            <a:r>
              <a:rPr lang="en-US" dirty="0"/>
              <a:t>→  the likelihood is unbounded (infinite)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221992"/>
            <a:ext cx="8522208" cy="704088"/>
          </a:xfrm>
        </p:spPr>
        <p:txBody>
          <a:bodyPr>
            <a:normAutofit fontScale="90000"/>
          </a:bodyPr>
          <a:lstStyle/>
          <a:p>
            <a:pPr algn="ctr"/>
            <a:r>
              <a:t>Disagreement Distance: Comparing Clusterings</a:t>
            </a:r>
          </a:p>
        </p:txBody>
      </p:sp>
    </p:spTree>
  </p:cSld>
  <p:clrMapOvr>
    <a:masterClrMapping/>
  </p:clrMapOvr>
  <p:transition spd="med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compare clusterings?</a:t>
            </a:r>
          </a:p>
        </p:txBody>
      </p:sp>
      <p:sp>
        <p:nvSpPr>
          <p:cNvPr id="248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often have two clusterings of the same points: K-means vs. GMM, two random initializations, or a prediction vs. ground truth</a:t>
            </a:r>
          </a:p>
          <a:p>
            <a:r>
              <a:rPr lang="en-US" dirty="0"/>
              <a:t>How different are they?</a:t>
            </a:r>
          </a:p>
          <a:p>
            <a:r>
              <a:rPr lang="en-US" dirty="0"/>
              <a:t>Cluster names are arbitrary, so comparing labels point by point does not work</a:t>
            </a:r>
          </a:p>
          <a:p>
            <a:r>
              <a:rPr lang="en-US" dirty="0"/>
              <a:t>Instead, compare how each clustering treats </a:t>
            </a:r>
            <a:r>
              <a:rPr lang="en-US" b="1" dirty="0"/>
              <a:t>pairs of points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Recall: pairs of points</a:t>
            </a:r>
          </a:p>
        </p:txBody>
      </p:sp>
      <p:sp>
        <p:nvSpPr>
          <p:cNvPr id="24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For every pair of points, a clustering says one of two things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/>
              <a:t>Together:</a:t>
            </a:r>
            <a:r>
              <a:rPr lang="en-US" dirty="0"/>
              <a:t> both points are in the same cluster</a:t>
            </a:r>
          </a:p>
          <a:p>
            <a:r>
              <a:rPr lang="en-US" b="1" dirty="0"/>
              <a:t>Apart:</a:t>
            </a:r>
            <a:r>
              <a:rPr lang="en-US" dirty="0"/>
              <a:t> the points are in different clusters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two clusterings </a:t>
            </a:r>
            <a:r>
              <a:rPr lang="en-US" b="1" dirty="0"/>
              <a:t>disagree</a:t>
            </a:r>
            <a:r>
              <a:rPr lang="en-US" dirty="0"/>
              <a:t> on a pair if one says together and the other says apart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Disagreement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Consider clusterings A and B of the same n points. Look at all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pairs: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a</a:t>
                </a:r>
                <a:r>
                  <a:rPr lang="en-US" dirty="0"/>
                  <a:t> = pairs together in A and together in B</a:t>
                </a:r>
              </a:p>
              <a:p>
                <a:r>
                  <a:rPr lang="en-US" b="1" dirty="0"/>
                  <a:t>b</a:t>
                </a:r>
                <a:r>
                  <a:rPr lang="en-US" dirty="0"/>
                  <a:t> = pairs together in A but apart in B</a:t>
                </a:r>
              </a:p>
              <a:p>
                <a:r>
                  <a:rPr lang="en-US" b="1" dirty="0"/>
                  <a:t>c</a:t>
                </a:r>
                <a:r>
                  <a:rPr lang="en-US" dirty="0"/>
                  <a:t> = pairs apart in A but together in B</a:t>
                </a:r>
              </a:p>
              <a:p>
                <a:r>
                  <a:rPr lang="en-US" b="1" dirty="0"/>
                  <a:t>d</a:t>
                </a:r>
                <a:r>
                  <a:rPr lang="en-US" dirty="0"/>
                  <a:t> = pairs apart in A and apart in B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5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Consider clusterings A and B of the same n points. Look at all </a:t>
                </a:r>
                <a:r>
                  <a:rPr lang="en-US" dirty="0"/>
                  <a:t>(n(n−1)) / 2</a:t>
                </a:r>
                <a:r>
                  <a:rPr lang="en-US" dirty="0"/>
                  <a:t> pairs: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b="1" dirty="0"/>
                  <a:t>a</a:t>
                </a:r>
                <a:r>
                  <a:rPr lang="en-US" dirty="0"/>
                  <a:t> = pairs together in A and together in B</a:t>
                </a:r>
              </a:p>
              <a:p>
                <a:r>
                  <a:rPr lang="en-US" b="1" dirty="0"/>
                  <a:t>b</a:t>
                </a:r>
                <a:r>
                  <a:rPr lang="en-US" dirty="0"/>
                  <a:t> = pairs together in A but apart in B</a:t>
                </a:r>
              </a:p>
              <a:p>
                <a:r>
                  <a:rPr lang="en-US" b="1" dirty="0"/>
                  <a:t>c</a:t>
                </a:r>
                <a:r>
                  <a:rPr lang="en-US" dirty="0"/>
                  <a:t> = pairs apart in A but together in B</a:t>
                </a:r>
              </a:p>
              <a:p>
                <a:r>
                  <a:rPr lang="en-US" b="1" dirty="0"/>
                  <a:t>d</a:t>
                </a:r>
                <a:r>
                  <a:rPr lang="en-US" dirty="0"/>
                  <a:t> = pairs apart in A and apart in B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Disagreement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disagreement distance counts the pairs on which A and B disagree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Also called the Mirkin distance</a:t>
                </a:r>
              </a:p>
              <a:p>
                <a:r>
                  <a:rPr lang="en-US" dirty="0"/>
                  <a:t>Normalized: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/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b="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lies between 0 and 1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5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The disagreement distance counts the pairs on which A and B disagree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d(A,B)=b+c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Also called the Mirkin distance</a:t>
                </a:r>
              </a:p>
              <a:p>
                <a:r>
                  <a:rPr lang="en-US" dirty="0"/>
                  <a:t>Normalized: </a:t>
                </a:r>
                <a:r>
                  <a:rPr lang="en-US" dirty="0"/>
                  <a:t>d(A,B)/</a:t>
                </a:r>
                <a:r>
                  <a:rPr lang="en-US" dirty="0"/>
                  <a:t>(n(n−1)) / 2</a:t>
                </a:r>
                <a:r>
                  <a:rPr lang="en-US" dirty="0"/>
                  <a:t> lies between 0 and 1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</a:t>
            </a:r>
          </a:p>
        </p:txBody>
      </p:sp>
      <p:sp>
        <p:nvSpPr>
          <p:cNvPr id="25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 = {1, 2, 3}, {4, 5, 6} and B = {1, 2}, {3, 4}, {5, 6}. What is d(A, B)?</a:t>
            </a:r>
          </a:p>
        </p:txBody>
      </p:sp>
      <p:sp>
        <p:nvSpPr>
          <p:cNvPr id="255" name="TextBox"/>
          <p:cNvSpPr txBox="1"/>
          <p:nvPr/>
        </p:nvSpPr>
        <p:spPr>
          <a:xfrm>
            <a:off x="548640" y="1828800"/>
            <a:ext cx="329184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  <a:latin typeface="Open Sans"/>
                <a:ea typeface="Open Sans"/>
                <a:cs typeface="Open Sans"/>
              </a:rPr>
              <a:t>Clustering A</a:t>
            </a:r>
          </a:p>
        </p:txBody>
      </p:sp>
      <p:sp>
        <p:nvSpPr>
          <p:cNvPr id="256" name="Oval"/>
          <p:cNvSpPr/>
          <p:nvPr/>
        </p:nvSpPr>
        <p:spPr>
          <a:xfrm>
            <a:off x="960120" y="2468880"/>
            <a:ext cx="292608" cy="292608"/>
          </a:xfrm>
          <a:prstGeom prst="ellipse">
            <a:avLst/>
          </a:prstGeom>
          <a:solidFill>
            <a:srgbClr val="EA9999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1</a:t>
            </a:r>
          </a:p>
        </p:txBody>
      </p:sp>
      <p:sp>
        <p:nvSpPr>
          <p:cNvPr id="257" name="Oval"/>
          <p:cNvSpPr/>
          <p:nvPr/>
        </p:nvSpPr>
        <p:spPr>
          <a:xfrm>
            <a:off x="1600200" y="2194560"/>
            <a:ext cx="292608" cy="292608"/>
          </a:xfrm>
          <a:prstGeom prst="ellipse">
            <a:avLst/>
          </a:prstGeom>
          <a:solidFill>
            <a:srgbClr val="EA9999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2</a:t>
            </a:r>
          </a:p>
        </p:txBody>
      </p:sp>
      <p:sp>
        <p:nvSpPr>
          <p:cNvPr id="258" name="Oval"/>
          <p:cNvSpPr/>
          <p:nvPr/>
        </p:nvSpPr>
        <p:spPr>
          <a:xfrm>
            <a:off x="1325880" y="3063240"/>
            <a:ext cx="292608" cy="292608"/>
          </a:xfrm>
          <a:prstGeom prst="ellipse">
            <a:avLst/>
          </a:prstGeom>
          <a:solidFill>
            <a:srgbClr val="EA9999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3</a:t>
            </a:r>
          </a:p>
        </p:txBody>
      </p:sp>
      <p:sp>
        <p:nvSpPr>
          <p:cNvPr id="259" name="Oval"/>
          <p:cNvSpPr/>
          <p:nvPr/>
        </p:nvSpPr>
        <p:spPr>
          <a:xfrm>
            <a:off x="2651760" y="2468880"/>
            <a:ext cx="292608" cy="292608"/>
          </a:xfrm>
          <a:prstGeom prst="ellipse">
            <a:avLst/>
          </a:prstGeom>
          <a:solidFill>
            <a:srgbClr val="A61B00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60" name="Oval"/>
          <p:cNvSpPr/>
          <p:nvPr/>
        </p:nvSpPr>
        <p:spPr>
          <a:xfrm>
            <a:off x="3291840" y="2926080"/>
            <a:ext cx="292608" cy="292608"/>
          </a:xfrm>
          <a:prstGeom prst="ellipse">
            <a:avLst/>
          </a:prstGeom>
          <a:solidFill>
            <a:srgbClr val="A61B00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61" name="Oval"/>
          <p:cNvSpPr/>
          <p:nvPr/>
        </p:nvSpPr>
        <p:spPr>
          <a:xfrm>
            <a:off x="2743200" y="3474720"/>
            <a:ext cx="292608" cy="292608"/>
          </a:xfrm>
          <a:prstGeom prst="ellipse">
            <a:avLst/>
          </a:prstGeom>
          <a:solidFill>
            <a:srgbClr val="A61B00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  <p:sp>
        <p:nvSpPr>
          <p:cNvPr id="262" name="TextBox"/>
          <p:cNvSpPr txBox="1"/>
          <p:nvPr/>
        </p:nvSpPr>
        <p:spPr>
          <a:xfrm>
            <a:off x="4754880" y="1828800"/>
            <a:ext cx="3291840" cy="274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  <a:latin typeface="Open Sans"/>
                <a:ea typeface="Open Sans"/>
                <a:cs typeface="Open Sans"/>
              </a:rPr>
              <a:t>Clustering B</a:t>
            </a:r>
          </a:p>
        </p:txBody>
      </p:sp>
      <p:sp>
        <p:nvSpPr>
          <p:cNvPr id="263" name="Oval"/>
          <p:cNvSpPr/>
          <p:nvPr/>
        </p:nvSpPr>
        <p:spPr>
          <a:xfrm>
            <a:off x="5166360" y="2468880"/>
            <a:ext cx="292608" cy="292608"/>
          </a:xfrm>
          <a:prstGeom prst="ellipse">
            <a:avLst/>
          </a:prstGeom>
          <a:solidFill>
            <a:srgbClr val="EA9999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1</a:t>
            </a:r>
          </a:p>
        </p:txBody>
      </p:sp>
      <p:sp>
        <p:nvSpPr>
          <p:cNvPr id="264" name="Oval"/>
          <p:cNvSpPr/>
          <p:nvPr/>
        </p:nvSpPr>
        <p:spPr>
          <a:xfrm>
            <a:off x="5806440" y="2194560"/>
            <a:ext cx="292608" cy="292608"/>
          </a:xfrm>
          <a:prstGeom prst="ellipse">
            <a:avLst/>
          </a:prstGeom>
          <a:solidFill>
            <a:srgbClr val="EA9999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2</a:t>
            </a:r>
          </a:p>
        </p:txBody>
      </p:sp>
      <p:sp>
        <p:nvSpPr>
          <p:cNvPr id="265" name="Oval"/>
          <p:cNvSpPr/>
          <p:nvPr/>
        </p:nvSpPr>
        <p:spPr>
          <a:xfrm>
            <a:off x="5532120" y="306324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3</a:t>
            </a:r>
          </a:p>
        </p:txBody>
      </p:sp>
      <p:sp>
        <p:nvSpPr>
          <p:cNvPr id="266" name="Oval"/>
          <p:cNvSpPr/>
          <p:nvPr/>
        </p:nvSpPr>
        <p:spPr>
          <a:xfrm>
            <a:off x="6858000" y="2468880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  <a:latin typeface="Open Sans"/>
              </a:rPr>
              <a:t>4</a:t>
            </a:r>
          </a:p>
        </p:txBody>
      </p:sp>
      <p:sp>
        <p:nvSpPr>
          <p:cNvPr id="267" name="Oval"/>
          <p:cNvSpPr/>
          <p:nvPr/>
        </p:nvSpPr>
        <p:spPr>
          <a:xfrm>
            <a:off x="7498080" y="2926080"/>
            <a:ext cx="292608" cy="292608"/>
          </a:xfrm>
          <a:prstGeom prst="ellipse">
            <a:avLst/>
          </a:prstGeom>
          <a:solidFill>
            <a:srgbClr val="A61B00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68" name="Oval"/>
          <p:cNvSpPr/>
          <p:nvPr/>
        </p:nvSpPr>
        <p:spPr>
          <a:xfrm>
            <a:off x="6949440" y="3474720"/>
            <a:ext cx="292608" cy="292608"/>
          </a:xfrm>
          <a:prstGeom prst="ellipse">
            <a:avLst/>
          </a:prstGeom>
          <a:solidFill>
            <a:srgbClr val="A61B00"/>
          </a:solidFill>
          <a:ln w="9525">
            <a:solidFill>
              <a:srgbClr val="00000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Together in A:</a:t>
                </a:r>
                <a:r>
                  <a:rPr lang="en-US" dirty="0"/>
                  <a:t> 12, 13, 23, 45, 46, 56  (6 pairs)</a:t>
                </a:r>
              </a:p>
              <a:p>
                <a:r>
                  <a:rPr lang="en-US" b="1" dirty="0"/>
                  <a:t>Together in B:</a:t>
                </a:r>
                <a:r>
                  <a:rPr lang="en-US" dirty="0"/>
                  <a:t> 12, 34, 56  (3 pairs)</a:t>
                </a:r>
              </a:p>
              <a:p>
                <a:r>
                  <a:rPr lang="en-US" b="1" dirty="0"/>
                  <a:t>Together in both:</a:t>
                </a:r>
                <a:r>
                  <a:rPr lang="en-US" dirty="0"/>
                  <a:t> 12, 56  (so a = 2)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All pairs: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6, so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</a:rPr>
                      <m:t>6·5/2</m:t>
                    </m:r>
                  </m:oMath>
                </a14:m>
                <a:r>
                  <a:rPr lang="en-US" dirty="0"/>
                  <a:t> = 15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7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Together in A:</a:t>
                </a:r>
                <a:r>
                  <a:rPr lang="en-US" dirty="0"/>
                  <a:t> 12, 13, 23, 45, 46, 56  (6 pairs)</a:t>
                </a:r>
              </a:p>
              <a:p>
                <a:r>
                  <a:rPr lang="en-US" b="1" dirty="0"/>
                  <a:t>Together in B:</a:t>
                </a:r>
                <a:r>
                  <a:rPr lang="en-US" dirty="0"/>
                  <a:t> 12, 34, 56  (3 pairs)</a:t>
                </a:r>
              </a:p>
              <a:p>
                <a:r>
                  <a:rPr lang="en-US" b="1" dirty="0"/>
                  <a:t>Together in both:</a:t>
                </a:r>
                <a:r>
                  <a:rPr lang="en-US" dirty="0"/>
                  <a:t> 12, 56  (so a = 2)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All pairs: </a:t>
                </a:r>
                <a:r>
                  <a:rPr lang="en-US" dirty="0"/>
                  <a:t>n</a:t>
                </a:r>
                <a:r>
                  <a:rPr lang="en-US" dirty="0"/>
                  <a:t> = 6, so </a:t>
                </a:r>
                <a:r>
                  <a:rPr lang="en-US" dirty="0"/>
                  <a:t>6·5/2</a:t>
                </a:r>
                <a:r>
                  <a:rPr lang="en-US" dirty="0"/>
                  <a:t> = 15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</a:t>
                </a:r>
                <a:r>
                  <a:rPr lang="en-US" dirty="0"/>
                  <a:t> = together in A only = 6 − 2 = 4</a:t>
                </a:r>
              </a:p>
              <a:p>
                <a:r>
                  <a:rPr lang="en-US" b="1" dirty="0"/>
                  <a:t>c</a:t>
                </a:r>
                <a:r>
                  <a:rPr lang="en-US" dirty="0"/>
                  <a:t> = together in B only = 3 − 2 =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=4 + 1 = 5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Normalized: 5 / 15 = 1/3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72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</a:t>
                </a:r>
                <a:r>
                  <a:rPr lang="en-US" dirty="0"/>
                  <a:t> = together in A only = 6 − 2 = 4</a:t>
                </a:r>
              </a:p>
              <a:p>
                <a:r>
                  <a:rPr lang="en-US" b="1" dirty="0"/>
                  <a:t>c</a:t>
                </a:r>
                <a:r>
                  <a:rPr lang="en-US" dirty="0"/>
                  <a:t> = together in B only = 3 − 2 = 1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d(A,B)=b+c=4 + 1 = 5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Normalized: 5 / 15 = 1/3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 Counting Shortcut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can avoid listing pairs by using cluster sizes and overlaps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US" dirty="0"/>
                  <a:t> =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|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𝑘𝑙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|² = 9 + 9 = 18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|² = 4 + 4 + 4 = 12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Overlaps: 2, 1, 1, 2,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² = 10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d = ½(18 + 12 − 20) = 5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74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can avoid listing pairs by using cluster sizes and overlaps </a:t>
                </a:r>
                <a:r>
                  <a:rPr lang="en-US" dirty="0"/>
                  <a:t>n_kl</a:t>
                </a:r>
                <a:r>
                  <a:rPr lang="en-US" dirty="0"/>
                  <a:t> = |</a:t>
                </a:r>
                <a:r>
                  <a:rPr lang="en-US" dirty="0"/>
                  <a:t>A_k</a:t>
                </a:r>
                <a:r>
                  <a:rPr lang="en-US" dirty="0"/>
                  <a:t> ∩ </a:t>
                </a:r>
                <a:r>
                  <a:rPr lang="en-US" dirty="0"/>
                  <a:t>B_l</a:t>
                </a:r>
                <a:r>
                  <a:rPr lang="en-US" dirty="0"/>
                  <a:t>|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d(A,B)=1 / 2[∑_k (|A_k|)²+∑_l (|B_l|)²−2∑_k,l n_kl²]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Example: </a:t>
                </a:r>
                <a:r>
                  <a:rPr lang="en-US" dirty="0"/>
                  <a:t>Σ|A_k|² = 9 + 9 = 18</a:t>
                </a:r>
                <a:r>
                  <a:rPr lang="en-US" dirty="0"/>
                  <a:t>,  </a:t>
                </a:r>
                <a:r>
                  <a:rPr lang="en-US" dirty="0"/>
                  <a:t>Σ|B_l|² = 4 + 4 + 4 = 12</a:t>
                </a:r>
              </a:p>
              <a:p>
                <a:r>
                  <a:rPr lang="en-US" dirty="0"/>
                  <a:t>Overlaps: 2, 1, 1, 2, so </a:t>
                </a:r>
                <a:r>
                  <a:rPr lang="en-US" dirty="0"/>
                  <a:t>Σ n² = 10</a:t>
                </a:r>
              </a:p>
              <a:p>
                <a:r>
                  <a:rPr lang="en-US" b="1" dirty="0"/>
                  <a:t>d = ½(18 + 12 − 20) = 5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It is a metric: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≥ 0, equal to 0 only when the clusterings are identical, symmetric, and it satisfies the triangle inequality</a:t>
                </a:r>
              </a:p>
              <a:p>
                <a:r>
                  <a:rPr lang="en-US" dirty="0"/>
                  <a:t>It ignores cluster names and ordering</a:t>
                </a:r>
              </a:p>
              <a:p>
                <a:r>
                  <a:rPr lang="en-US" dirty="0"/>
                  <a:t>Range: 0 to the number of pairs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Relation to the Rand index (fraction of pairs on which A and B agree)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RI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:m="http://schemas.openxmlformats.org/officeDocument/2006/math" xmlns="">
          <p:sp>
            <p:nvSpPr>
              <p:cNvPr id="276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It is a metric: </a:t>
                </a:r>
                <a:r>
                  <a:rPr lang="en-US" dirty="0"/>
                  <a:t>d</a:t>
                </a:r>
                <a:r>
                  <a:rPr lang="en-US" dirty="0"/>
                  <a:t> ≥ 0, equal to 0 only when the clusterings are identical, symmetric, and it satisfies the triangle inequality</a:t>
                </a:r>
              </a:p>
              <a:p>
                <a:r>
                  <a:rPr lang="en-US" dirty="0"/>
                  <a:t>It ignores cluster names and ordering</a:t>
                </a:r>
              </a:p>
              <a:p>
                <a:r>
                  <a:rPr lang="en-US" dirty="0"/>
                  <a:t>Range: 0 to the number of pairs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Relation to the Rand index (fraction of pairs on which A and B agree)</a:t>
                </a:r>
              </a:p>
              <a:p>
                <a:pPr marL="114300" indent="0">
                  <a:buNone/>
                </a:pPr>
                <a:r>
                  <a:rPr lang="en-US" dirty="0"/>
                  <a:t>RI=(a+d) / ((n(n−1)) / 2)=1−(d(A,B)) / ((n(n−1)) / 2)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Disagreement Distance and GMM</a:t>
            </a:r>
          </a:p>
        </p:txBody>
      </p:sp>
      <p:sp>
        <p:nvSpPr>
          <p:cNvPr id="27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GMM vs. K-means:</a:t>
            </a:r>
            <a:r>
              <a:rPr lang="en-US" dirty="0"/>
              <a:t> take the most likely cluster for each point under the GMM, then compute d(GMM, K-means)</a:t>
            </a:r>
          </a:p>
          <a:p>
            <a:r>
              <a:rPr lang="en-US" b="1" dirty="0"/>
              <a:t>Stability:</a:t>
            </a:r>
            <a:r>
              <a:rPr lang="en-US" dirty="0"/>
              <a:t> run EM from several initializations; small pairwise distances mean a stable clustering</a:t>
            </a:r>
          </a:p>
          <a:p>
            <a:r>
              <a:rPr lang="en-US" b="1" dirty="0"/>
              <a:t>Ground truth:</a:t>
            </a:r>
            <a:r>
              <a:rPr lang="en-US" dirty="0"/>
              <a:t> compute d(prediction, truth); no label matching is needed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36AA8-4604-0757-5F74-C565D1B100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B2603-B0A7-BFFC-DDFB-00B870E0612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Consider A = {1, 2}, {3, 4} and B = {3, 4}, {1, 2}, which has the same clusters with their names swapped. What is d(A, B)?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B7D26A-6B4B-ABCE-8ED7-5CCB687FA50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C5FC2A4-BBDD-1D03-F186-A5648D8AF2F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49C903B-EE29-D1E7-4DD9-B77962B4811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C8DE3C-5814-96C1-35BC-FD909D7527F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562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Solution</a:t>
            </a:r>
          </a:p>
        </p:txBody>
      </p:sp>
      <p:sp>
        <p:nvSpPr>
          <p:cNvPr id="2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/>
              <a:t>0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The pairs together and apart are identical in A and B</a:t>
            </a:r>
          </a:p>
          <a:p>
            <a:r>
              <a:rPr lang="en-US" dirty="0"/>
              <a:t>So b = c = 0: the distance ignores cluster names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GMM is a mixture of Gaussians that gives soft assignments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summing to 1</a:t>
                </a:r>
              </a:p>
              <a:p>
                <a:r>
                  <a:rPr lang="en-US" dirty="0"/>
                  <a:t>Fit it by maximizing the likelihood with EM: E-step (responsibilities), M-step (weights, means, variances)</a:t>
                </a:r>
              </a:p>
              <a:p>
                <a:r>
                  <a:rPr lang="en-US" dirty="0"/>
                  <a:t>EM converges to a local optimum, so initialization matters</a:t>
                </a:r>
              </a:p>
              <a:p>
                <a:r>
                  <a:rPr lang="en-US" dirty="0"/>
                  <a:t>Disagreement distance d(A, B) = b + c counts the pairs that two clusterings treat differently</a:t>
                </a:r>
              </a:p>
              <a:p>
                <a:r>
                  <a:rPr lang="en-US" dirty="0"/>
                  <a:t>It ignores cluster names and relates to the Rand index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281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GMM is a mixture of Gaussians that gives soft assignments </a:t>
                </a:r>
                <a:r>
                  <a:rPr lang="en-US" dirty="0"/>
                  <a:t>ℙ(S_j | X_i)</a:t>
                </a:r>
                <a:r>
                  <a:rPr lang="en-US" dirty="0"/>
                  <a:t> summing to 1</a:t>
                </a:r>
              </a:p>
              <a:p>
                <a:r>
                  <a:rPr lang="en-US" dirty="0"/>
                  <a:t>Fit it by maximizing the likelihood with EM: E-step (responsibilities), M-step (weights, means, variances)</a:t>
                </a:r>
              </a:p>
              <a:p>
                <a:r>
                  <a:rPr lang="en-US" dirty="0"/>
                  <a:t>EM converges to a local optimum, so initialization matters</a:t>
                </a:r>
              </a:p>
              <a:p>
                <a:r>
                  <a:rPr lang="en-US" dirty="0"/>
                  <a:t>Disagreement distance d(A, B) = b + c counts the pairs that two clusterings treat differently</a:t>
                </a:r>
              </a:p>
              <a:p>
                <a:r>
                  <a:rPr lang="en-US" dirty="0"/>
                  <a:t>It ignores cluster names and relates to the Rand index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8f191b3-6b47-4b20-a283-34ed5871b5b5"/>
  <p:tag name="SLIDO_EVENT_UUID" val="48474cee-582d-4822-8ae8-caf10ec4680a"/>
  <p:tag name="SLIDO_EVENT_SECTION_UUID" val="2f5845a6-5f26-4f2f-a019-cc28c413a8f2"/>
  <p:tag name="SLIDO_SHARE_KEY" val="d25b4879e087ab152d369a9b14e1fff0e35069ba4f6a9670dde8c954088b41c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4cd2b67-c5ac-49f1-9d1a-4d997633120b"/>
  <p:tag name="SLIDO_KEEP_POLL_ACTIVE" val="false"/>
  <p:tag name="SLIDO_TIMELINE" val="W3sicG9sbFF1ZXN0aW9uVXVpZCI6IjhjMmFkZDVmLWJlMmYtNDY3Ni04NDA5LTZiNzU5OWRkMTM1ZCIsInNob3dDb3JyZWN0QW5zd2VycyI6ZmFsc2UsInNob3dSZXN1bHRzIjpmYWxzZX0seyJwb2xsUXVlc3Rpb25VdWlkIjoiOGMyYWRkNWYtYmUyZi00Njc2LTg0MDktNmI3NTk5ZGQxMzVkIiwic2hvd0NvcnJlY3RBbnN3ZXJzIjp0cnVlLCJzaG93UmVzdWx0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3a71ae5-2aab-41aa-a3b4-aef07b6c590c"/>
  <p:tag name="SLIDO_KEEP_POLL_ACTIVE" val="false"/>
  <p:tag name="SLIDO_TIMELINE" val="W3sicG9sbFF1ZXN0aW9uVXVpZCI6ImY3NGQzNzRlLTEwZGMtNDhhOC05MThiLTVkZmM0ZjU1YmM3OSIsInNob3dSZXN1bHRzIjpmYWxzZSwic2hvd0NvcnJlY3RBbnN3ZXJzIjpmYWxzZX0seyJwb2xsUXVlc3Rpb25VdWlkIjoiZjc0ZDM3NGUtMTBkYy00OGE4LTkxOGItNWRmYzRmNTViYzc5Iiwic2hvd1Jlc3VsdHMiOnRydWUsInNob3dDb3JyZWN0QW5zd2VycyI6dHJ1ZX1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a9a5bdf-b400-4337-8984-7cb01631f6aa"/>
  <p:tag name="SLIDO_KEEP_POLL_ACTIVE" val="false"/>
  <p:tag name="SLIDO_TIMELINE" val="W3sicG9sbFF1ZXN0aW9uVXVpZCI6IjFhYjk3YjU2LTQ4MTAtNGFiMi04ODJlLTUyMzcxNzIyNzIwOCIsInNob3dSZXN1bHRzIjpmYWxzZSwic2hvd0NvcnJlY3RBbnN3ZXJzIjpmYWxzZX0seyJwb2xsUXVlc3Rpb25VdWlkIjoiMWFiOTdiNTYtNDgxMC00YWIyLTg4MmUtNTIzNzE3MjI3MjA4Iiwic2hvd1Jlc3VsdHMiOnRydWUsInNob3dDb3JyZWN0QW5zd2VycyI6dHJ1ZX1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692a880-fcda-48f2-be8f-0ecf36bfa1d5"/>
  <p:tag name="SLIDO_KEEP_POLL_ACTIVE" val="false"/>
  <p:tag name="SLIDO_TIMELINE" val="W3sic2hvd0NvcnJlY3RBbnN3ZXJzIjpmYWxzZSwicG9sbFF1ZXN0aW9uVXVpZCI6IjdkMTA5MDYxLTcyMDItNDIzMy1hN2NlLTc4NTVjNjNjZjNiNiIsInNob3dSZXN1bHRzIjpmYWxzZX0seyJzaG93Q29ycmVjdEFuc3dlcnMiOnRydWUsInBvbGxRdWVzdGlvblV1aWQiOiI3ZDEwOTA2MS03MjAyLTQyMzMtYTdjZS03ODU1YzYzY2YzYjYiLCJzaG93UmVzdWx0cyI6dHJ1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3342</TotalTime>
  <Words>1835</Words>
  <Application>Microsoft Macintosh PowerPoint</Application>
  <PresentationFormat>On-screen Show (16:9)</PresentationFormat>
  <Paragraphs>245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Cambria Math</vt:lpstr>
      <vt:lpstr>Arial</vt:lpstr>
      <vt:lpstr>Open Sans</vt:lpstr>
      <vt:lpstr>PT Sans Narrow</vt:lpstr>
      <vt:lpstr>Calibri</vt:lpstr>
      <vt:lpstr>Tropic</vt:lpstr>
      <vt:lpstr>GMM &amp; Disagreement Distance</vt:lpstr>
      <vt:lpstr>Soft Clustering/Gaussian Mixture Modeling (GMM)</vt:lpstr>
      <vt:lpstr>Recall: Soft Clustering</vt:lpstr>
      <vt:lpstr>Recall: Soft Clustering</vt:lpstr>
      <vt:lpstr>Recall: Soft Clustering</vt:lpstr>
      <vt:lpstr>Recall: Bayes’ Theorem</vt:lpstr>
      <vt:lpstr>Recall: Bayes’ Theorem</vt:lpstr>
      <vt:lpstr>Recall: Bayes’ Theorem</vt:lpstr>
      <vt:lpstr>Recall: Bayes’ Theorem</vt:lpstr>
      <vt:lpstr>Recall: Bayes’ Theorem</vt:lpstr>
      <vt:lpstr>Recall: Bayes’ Theorem</vt:lpstr>
      <vt:lpstr>Mixture Model</vt:lpstr>
      <vt:lpstr>Mixture Model</vt:lpstr>
      <vt:lpstr>Gaussian Mixture Model</vt:lpstr>
      <vt:lpstr>Recall: MLE</vt:lpstr>
      <vt:lpstr>GMM Clustering</vt:lpstr>
      <vt:lpstr>GMM Clustering</vt:lpstr>
      <vt:lpstr>Maximum Likelihood for GMM</vt:lpstr>
      <vt:lpstr>Expectation Maximization (EM)</vt:lpstr>
      <vt:lpstr>E-step</vt:lpstr>
      <vt:lpstr>M-step: Updating Parameters</vt:lpstr>
      <vt:lpstr>M-step: Updating Parameters</vt:lpstr>
      <vt:lpstr>Measuring Convergence</vt:lpstr>
      <vt:lpstr>PowerPoint Presentation</vt:lpstr>
      <vt:lpstr>Solution</vt:lpstr>
      <vt:lpstr>PowerPoint Presentation</vt:lpstr>
      <vt:lpstr>Solution</vt:lpstr>
      <vt:lpstr>PowerPoint Presentation</vt:lpstr>
      <vt:lpstr>Solution – qualitative approach!</vt:lpstr>
      <vt:lpstr>Disagreement Distance: Comparing Clusterings</vt:lpstr>
      <vt:lpstr>Why compare clusterings?</vt:lpstr>
      <vt:lpstr>Recall: pairs of points</vt:lpstr>
      <vt:lpstr>Disagreement Distance</vt:lpstr>
      <vt:lpstr>Disagreement Distance</vt:lpstr>
      <vt:lpstr>Example</vt:lpstr>
      <vt:lpstr>Solution</vt:lpstr>
      <vt:lpstr>Solution (cont.)</vt:lpstr>
      <vt:lpstr>A Counting Shortcut</vt:lpstr>
      <vt:lpstr>Properties</vt:lpstr>
      <vt:lpstr>Disagreement Distance and GMM</vt:lpstr>
      <vt:lpstr>PowerPoint Presentation</vt:lpstr>
      <vt:lpstr>Solution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Mustafa, Baria</cp:lastModifiedBy>
  <cp:revision>15</cp:revision>
  <dcterms:modified xsi:type="dcterms:W3CDTF">2026-10-02T23:14:20Z</dcterms:modified>
</cp:coreProperties>
</file>